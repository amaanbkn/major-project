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8" r:id="rId1"/>
  </p:sldMasterIdLst>
  <p:sldIdLst>
    <p:sldId id="264" r:id="rId2"/>
    <p:sldId id="267" r:id="rId3"/>
    <p:sldId id="257" r:id="rId4"/>
    <p:sldId id="265" r:id="rId5"/>
    <p:sldId id="259" r:id="rId6"/>
    <p:sldId id="258" r:id="rId7"/>
    <p:sldId id="268" r:id="rId8"/>
    <p:sldId id="261" r:id="rId9"/>
    <p:sldId id="271" r:id="rId10"/>
    <p:sldId id="270" r:id="rId11"/>
    <p:sldId id="272" r:id="rId12"/>
    <p:sldId id="273" r:id="rId13"/>
    <p:sldId id="274" r:id="rId14"/>
    <p:sldId id="269" r:id="rId15"/>
    <p:sldId id="263"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5D1029C-D7E1-4B94-BB9A-68CA0E6C75FD}" type="datetimeFigureOut">
              <a:rPr lang="en-IN" smtClean="0"/>
              <a:t>07-05-2026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FA102-CEB4-44E4-A1D2-CD425072DD17}" type="slidenum">
              <a:rPr lang="en-IN" smtClean="0"/>
              <a:t>‹#›</a:t>
            </a:fld>
            <a:endParaRPr lang="en-IN"/>
          </a:p>
        </p:txBody>
      </p:sp>
    </p:spTree>
    <p:extLst>
      <p:ext uri="{BB962C8B-B14F-4D97-AF65-F5344CB8AC3E}">
        <p14:creationId xmlns:p14="http://schemas.microsoft.com/office/powerpoint/2010/main" val="538411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D1029C-D7E1-4B94-BB9A-68CA0E6C75FD}" type="datetimeFigureOut">
              <a:rPr lang="en-IN" smtClean="0"/>
              <a:t>07-05-2026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FA102-CEB4-44E4-A1D2-CD425072DD17}" type="slidenum">
              <a:rPr lang="en-IN" smtClean="0"/>
              <a:t>‹#›</a:t>
            </a:fld>
            <a:endParaRPr lang="en-IN"/>
          </a:p>
        </p:txBody>
      </p:sp>
    </p:spTree>
    <p:extLst>
      <p:ext uri="{BB962C8B-B14F-4D97-AF65-F5344CB8AC3E}">
        <p14:creationId xmlns:p14="http://schemas.microsoft.com/office/powerpoint/2010/main" val="379285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D1029C-D7E1-4B94-BB9A-68CA0E6C75FD}" type="datetimeFigureOut">
              <a:rPr lang="en-IN" smtClean="0"/>
              <a:t>07-05-2026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FA102-CEB4-44E4-A1D2-CD425072DD17}" type="slidenum">
              <a:rPr lang="en-IN" smtClean="0"/>
              <a:t>‹#›</a:t>
            </a:fld>
            <a:endParaRPr lang="en-IN"/>
          </a:p>
        </p:txBody>
      </p:sp>
    </p:spTree>
    <p:extLst>
      <p:ext uri="{BB962C8B-B14F-4D97-AF65-F5344CB8AC3E}">
        <p14:creationId xmlns:p14="http://schemas.microsoft.com/office/powerpoint/2010/main" val="2465911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D1029C-D7E1-4B94-BB9A-68CA0E6C75FD}" type="datetimeFigureOut">
              <a:rPr lang="en-IN" smtClean="0"/>
              <a:t>07-05-2026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85FA102-CEB4-44E4-A1D2-CD425072DD17}" type="slidenum">
              <a:rPr lang="en-IN" smtClean="0"/>
              <a:t>‹#›</a:t>
            </a:fld>
            <a:endParaRPr lang="en-IN"/>
          </a:p>
        </p:txBody>
      </p:sp>
    </p:spTree>
    <p:extLst>
      <p:ext uri="{BB962C8B-B14F-4D97-AF65-F5344CB8AC3E}">
        <p14:creationId xmlns:p14="http://schemas.microsoft.com/office/powerpoint/2010/main" val="2942383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D1029C-D7E1-4B94-BB9A-68CA0E6C75FD}" type="datetimeFigureOut">
              <a:rPr lang="en-IN" smtClean="0"/>
              <a:t>07-05-2026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85FA102-CEB4-44E4-A1D2-CD425072DD17}" type="slidenum">
              <a:rPr lang="en-IN" smtClean="0"/>
              <a:t>‹#›</a:t>
            </a:fld>
            <a:endParaRPr lang="en-IN"/>
          </a:p>
        </p:txBody>
      </p:sp>
    </p:spTree>
    <p:extLst>
      <p:ext uri="{BB962C8B-B14F-4D97-AF65-F5344CB8AC3E}">
        <p14:creationId xmlns:p14="http://schemas.microsoft.com/office/powerpoint/2010/main" val="3049409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D1029C-D7E1-4B94-BB9A-68CA0E6C75FD}" type="datetimeFigureOut">
              <a:rPr lang="en-IN" smtClean="0"/>
              <a:t>07-05-2026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85FA102-CEB4-44E4-A1D2-CD425072DD17}" type="slidenum">
              <a:rPr lang="en-IN" smtClean="0"/>
              <a:t>‹#›</a:t>
            </a:fld>
            <a:endParaRPr lang="en-IN"/>
          </a:p>
        </p:txBody>
      </p:sp>
    </p:spTree>
    <p:extLst>
      <p:ext uri="{BB962C8B-B14F-4D97-AF65-F5344CB8AC3E}">
        <p14:creationId xmlns:p14="http://schemas.microsoft.com/office/powerpoint/2010/main" val="2774159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D1029C-D7E1-4B94-BB9A-68CA0E6C75FD}" type="datetimeFigureOut">
              <a:rPr lang="en-IN" smtClean="0"/>
              <a:t>07-05-2026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85FA102-CEB4-44E4-A1D2-CD425072DD17}" type="slidenum">
              <a:rPr lang="en-IN" smtClean="0"/>
              <a:t>‹#›</a:t>
            </a:fld>
            <a:endParaRPr lang="en-IN"/>
          </a:p>
        </p:txBody>
      </p:sp>
    </p:spTree>
    <p:extLst>
      <p:ext uri="{BB962C8B-B14F-4D97-AF65-F5344CB8AC3E}">
        <p14:creationId xmlns:p14="http://schemas.microsoft.com/office/powerpoint/2010/main" val="1245380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D1029C-D7E1-4B94-BB9A-68CA0E6C75FD}" type="datetimeFigureOut">
              <a:rPr lang="en-IN" smtClean="0"/>
              <a:t>07-05-2026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85FA102-CEB4-44E4-A1D2-CD425072DD17}" type="slidenum">
              <a:rPr lang="en-IN" smtClean="0"/>
              <a:t>‹#›</a:t>
            </a:fld>
            <a:endParaRPr lang="en-IN"/>
          </a:p>
        </p:txBody>
      </p:sp>
    </p:spTree>
    <p:extLst>
      <p:ext uri="{BB962C8B-B14F-4D97-AF65-F5344CB8AC3E}">
        <p14:creationId xmlns:p14="http://schemas.microsoft.com/office/powerpoint/2010/main" val="1201551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85FA102-CEB4-44E4-A1D2-CD425072DD17}" type="slidenum">
              <a:rPr lang="en-IN" smtClean="0"/>
              <a:t>‹#›</a:t>
            </a:fld>
            <a:endParaRPr lang="en-IN"/>
          </a:p>
        </p:txBody>
      </p:sp>
      <p:sp>
        <p:nvSpPr>
          <p:cNvPr id="5" name="Date Placeholder 4"/>
          <p:cNvSpPr>
            <a:spLocks noGrp="1"/>
          </p:cNvSpPr>
          <p:nvPr>
            <p:ph type="dt" sz="half" idx="10"/>
          </p:nvPr>
        </p:nvSpPr>
        <p:spPr/>
        <p:txBody>
          <a:bodyPr/>
          <a:lstStyle/>
          <a:p>
            <a:fld id="{F5D1029C-D7E1-4B94-BB9A-68CA0E6C75FD}" type="datetimeFigureOut">
              <a:rPr lang="en-IN" smtClean="0"/>
              <a:t>07-05-2026</a:t>
            </a:fld>
            <a:endParaRPr lang="en-IN"/>
          </a:p>
        </p:txBody>
      </p:sp>
    </p:spTree>
    <p:extLst>
      <p:ext uri="{BB962C8B-B14F-4D97-AF65-F5344CB8AC3E}">
        <p14:creationId xmlns:p14="http://schemas.microsoft.com/office/powerpoint/2010/main" val="2851640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D1029C-D7E1-4B94-BB9A-68CA0E6C75FD}" type="datetimeFigureOut">
              <a:rPr lang="en-IN" smtClean="0"/>
              <a:t>07-05-2026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FA102-CEB4-44E4-A1D2-CD425072DD17}" type="slidenum">
              <a:rPr lang="en-IN" smtClean="0"/>
              <a:t>‹#›</a:t>
            </a:fld>
            <a:endParaRPr lang="en-IN"/>
          </a:p>
        </p:txBody>
      </p:sp>
    </p:spTree>
    <p:extLst>
      <p:ext uri="{BB962C8B-B14F-4D97-AF65-F5344CB8AC3E}">
        <p14:creationId xmlns:p14="http://schemas.microsoft.com/office/powerpoint/2010/main" val="1165178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D1029C-D7E1-4B94-BB9A-68CA0E6C75FD}" type="datetimeFigureOut">
              <a:rPr lang="en-IN" smtClean="0"/>
              <a:t>07-05-2026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FA102-CEB4-44E4-A1D2-CD425072DD17}"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905094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D1029C-D7E1-4B94-BB9A-68CA0E6C75FD}" type="datetimeFigureOut">
              <a:rPr lang="en-IN" smtClean="0"/>
              <a:t>07-05-2026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FA102-CEB4-44E4-A1D2-CD425072DD17}" type="slidenum">
              <a:rPr lang="en-IN" smtClean="0"/>
              <a:t>‹#›</a:t>
            </a:fld>
            <a:endParaRPr lang="en-IN"/>
          </a:p>
        </p:txBody>
      </p:sp>
    </p:spTree>
    <p:extLst>
      <p:ext uri="{BB962C8B-B14F-4D97-AF65-F5344CB8AC3E}">
        <p14:creationId xmlns:p14="http://schemas.microsoft.com/office/powerpoint/2010/main" val="10214759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D1029C-D7E1-4B94-BB9A-68CA0E6C75FD}" type="datetimeFigureOut">
              <a:rPr lang="en-IN" smtClean="0"/>
              <a:t>07-05-2026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FA102-CEB4-44E4-A1D2-CD425072DD17}"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35182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D1029C-D7E1-4B94-BB9A-68CA0E6C75FD}" type="datetimeFigureOut">
              <a:rPr lang="en-IN" smtClean="0"/>
              <a:t>07-05-2026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FA102-CEB4-44E4-A1D2-CD425072DD17}" type="slidenum">
              <a:rPr lang="en-IN" smtClean="0"/>
              <a:t>‹#›</a:t>
            </a:fld>
            <a:endParaRPr lang="en-IN"/>
          </a:p>
        </p:txBody>
      </p:sp>
    </p:spTree>
    <p:extLst>
      <p:ext uri="{BB962C8B-B14F-4D97-AF65-F5344CB8AC3E}">
        <p14:creationId xmlns:p14="http://schemas.microsoft.com/office/powerpoint/2010/main" val="24700902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D1029C-D7E1-4B94-BB9A-68CA0E6C75FD}" type="datetimeFigureOut">
              <a:rPr lang="en-IN" smtClean="0"/>
              <a:t>07-05-2026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FA102-CEB4-44E4-A1D2-CD425072DD17}" type="slidenum">
              <a:rPr lang="en-IN" smtClean="0"/>
              <a:t>‹#›</a:t>
            </a:fld>
            <a:endParaRPr lang="en-IN"/>
          </a:p>
        </p:txBody>
      </p:sp>
    </p:spTree>
    <p:extLst>
      <p:ext uri="{BB962C8B-B14F-4D97-AF65-F5344CB8AC3E}">
        <p14:creationId xmlns:p14="http://schemas.microsoft.com/office/powerpoint/2010/main" val="1281449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D1029C-D7E1-4B94-BB9A-68CA0E6C75FD}" type="datetimeFigureOut">
              <a:rPr lang="en-IN" smtClean="0"/>
              <a:t>07-05-2026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FA102-CEB4-44E4-A1D2-CD425072DD17}" type="slidenum">
              <a:rPr lang="en-IN" smtClean="0"/>
              <a:t>‹#›</a:t>
            </a:fld>
            <a:endParaRPr lang="en-IN"/>
          </a:p>
        </p:txBody>
      </p:sp>
    </p:spTree>
    <p:extLst>
      <p:ext uri="{BB962C8B-B14F-4D97-AF65-F5344CB8AC3E}">
        <p14:creationId xmlns:p14="http://schemas.microsoft.com/office/powerpoint/2010/main" val="2886242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5D1029C-D7E1-4B94-BB9A-68CA0E6C75FD}" type="datetimeFigureOut">
              <a:rPr lang="en-IN" smtClean="0"/>
              <a:t>07-05-2026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85FA102-CEB4-44E4-A1D2-CD425072DD17}" type="slidenum">
              <a:rPr lang="en-IN" smtClean="0"/>
              <a:t>‹#›</a:t>
            </a:fld>
            <a:endParaRPr lang="en-IN"/>
          </a:p>
        </p:txBody>
      </p:sp>
    </p:spTree>
    <p:extLst>
      <p:ext uri="{BB962C8B-B14F-4D97-AF65-F5344CB8AC3E}">
        <p14:creationId xmlns:p14="http://schemas.microsoft.com/office/powerpoint/2010/main" val="4140346601"/>
      </p:ext>
    </p:extLst>
  </p:cSld>
  <p:clrMap bg1="lt1" tx1="dk1" bg2="lt2" tx2="dk2" accent1="accent1" accent2="accent2" accent3="accent3" accent4="accent4" accent5="accent5" accent6="accent6" hlink="hlink" folHlink="folHlink"/>
  <p:sldLayoutIdLst>
    <p:sldLayoutId id="2147483899" r:id="rId1"/>
    <p:sldLayoutId id="2147483900" r:id="rId2"/>
    <p:sldLayoutId id="2147483901" r:id="rId3"/>
    <p:sldLayoutId id="2147483902" r:id="rId4"/>
    <p:sldLayoutId id="2147483903" r:id="rId5"/>
    <p:sldLayoutId id="2147483904" r:id="rId6"/>
    <p:sldLayoutId id="2147483905" r:id="rId7"/>
    <p:sldLayoutId id="2147483906" r:id="rId8"/>
    <p:sldLayoutId id="2147483907" r:id="rId9"/>
    <p:sldLayoutId id="2147483908" r:id="rId10"/>
    <p:sldLayoutId id="2147483909" r:id="rId11"/>
    <p:sldLayoutId id="2147483910" r:id="rId12"/>
    <p:sldLayoutId id="2147483911" r:id="rId13"/>
    <p:sldLayoutId id="2147483912" r:id="rId14"/>
    <p:sldLayoutId id="2147483913" r:id="rId15"/>
    <p:sldLayoutId id="214748391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305050" y="190501"/>
            <a:ext cx="7772400" cy="1289511"/>
          </a:xfrm>
          <a:prstGeom prst="rect">
            <a:avLst/>
          </a:prstGeom>
        </p:spPr>
      </p:pic>
      <p:graphicFrame>
        <p:nvGraphicFramePr>
          <p:cNvPr id="7" name="Table 6">
            <a:extLst>
              <a:ext uri="{FF2B5EF4-FFF2-40B4-BE49-F238E27FC236}">
                <a16:creationId xmlns:a16="http://schemas.microsoft.com/office/drawing/2014/main" id="{5D14F52A-3F85-7D36-F389-DA0FA7895123}"/>
              </a:ext>
            </a:extLst>
          </p:cNvPr>
          <p:cNvGraphicFramePr>
            <a:graphicFrameLocks noGrp="1"/>
          </p:cNvGraphicFramePr>
          <p:nvPr>
            <p:extLst>
              <p:ext uri="{D42A27DB-BD31-4B8C-83A1-F6EECF244321}">
                <p14:modId xmlns:p14="http://schemas.microsoft.com/office/powerpoint/2010/main" val="2749036281"/>
              </p:ext>
            </p:extLst>
          </p:nvPr>
        </p:nvGraphicFramePr>
        <p:xfrm>
          <a:off x="2305050" y="2341988"/>
          <a:ext cx="8128000" cy="64008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3875321517"/>
                    </a:ext>
                  </a:extLst>
                </a:gridCol>
              </a:tblGrid>
              <a:tr h="370840">
                <a:tc>
                  <a:txBody>
                    <a:bodyPr/>
                    <a:lstStyle/>
                    <a:p>
                      <a:pPr algn="ctr"/>
                      <a:r>
                        <a:rPr lang="en-IN" dirty="0">
                          <a:solidFill>
                            <a:schemeClr val="tx1"/>
                          </a:solidFill>
                          <a:latin typeface="Times New Roman" panose="02020603050405020304" pitchFamily="18" charset="0"/>
                          <a:cs typeface="Times New Roman" panose="02020603050405020304" pitchFamily="18" charset="0"/>
                        </a:rPr>
                        <a:t>TITLE OF THE PROJECT :</a:t>
                      </a:r>
                      <a:r>
                        <a:rPr lang="en-IN" b="0" dirty="0">
                          <a:solidFill>
                            <a:schemeClr val="tx1"/>
                          </a:solidFill>
                          <a:latin typeface="Times New Roman" panose="02020603050405020304" pitchFamily="18" charset="0"/>
                          <a:cs typeface="Times New Roman" panose="02020603050405020304" pitchFamily="18" charset="0"/>
                        </a:rPr>
                        <a:t>LLM-driven Financial Chatbot for Real-Time Stock Market Analysis.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1067891"/>
                  </a:ext>
                </a:extLst>
              </a:tr>
            </a:tbl>
          </a:graphicData>
        </a:graphic>
      </p:graphicFrame>
      <p:graphicFrame>
        <p:nvGraphicFramePr>
          <p:cNvPr id="8" name="Table 7">
            <a:extLst>
              <a:ext uri="{FF2B5EF4-FFF2-40B4-BE49-F238E27FC236}">
                <a16:creationId xmlns:a16="http://schemas.microsoft.com/office/drawing/2014/main" id="{E0066000-628B-1C41-02CF-DC32E0CB3913}"/>
              </a:ext>
            </a:extLst>
          </p:cNvPr>
          <p:cNvGraphicFramePr>
            <a:graphicFrameLocks noGrp="1"/>
          </p:cNvGraphicFramePr>
          <p:nvPr>
            <p:extLst>
              <p:ext uri="{D42A27DB-BD31-4B8C-83A1-F6EECF244321}">
                <p14:modId xmlns:p14="http://schemas.microsoft.com/office/powerpoint/2010/main" val="1485577648"/>
              </p:ext>
            </p:extLst>
          </p:nvPr>
        </p:nvGraphicFramePr>
        <p:xfrm>
          <a:off x="412341" y="4047884"/>
          <a:ext cx="3756536" cy="2185767"/>
        </p:xfrm>
        <a:graphic>
          <a:graphicData uri="http://schemas.openxmlformats.org/drawingml/2006/table">
            <a:tbl>
              <a:tblPr firstRow="1" bandRow="1">
                <a:tableStyleId>{5C22544A-7EE6-4342-B048-85BDC9FD1C3A}</a:tableStyleId>
              </a:tblPr>
              <a:tblGrid>
                <a:gridCol w="3756536">
                  <a:extLst>
                    <a:ext uri="{9D8B030D-6E8A-4147-A177-3AD203B41FA5}">
                      <a16:colId xmlns:a16="http://schemas.microsoft.com/office/drawing/2014/main" val="3875321517"/>
                    </a:ext>
                  </a:extLst>
                </a:gridCol>
              </a:tblGrid>
              <a:tr h="2185767">
                <a:tc>
                  <a:txBody>
                    <a:bodyPr/>
                    <a:lstStyle/>
                    <a:p>
                      <a:pPr algn="ctr"/>
                      <a:r>
                        <a:rPr lang="en-IN" dirty="0">
                          <a:solidFill>
                            <a:schemeClr val="tx1"/>
                          </a:solidFill>
                          <a:latin typeface="Times New Roman" panose="02020603050405020304" pitchFamily="18" charset="0"/>
                          <a:cs typeface="Times New Roman" panose="02020603050405020304" pitchFamily="18" charset="0"/>
                        </a:rPr>
                        <a:t>TEAM MEMBERS</a:t>
                      </a:r>
                    </a:p>
                    <a:p>
                      <a:pPr algn="ctr"/>
                      <a:r>
                        <a:rPr lang="en-IN" dirty="0">
                          <a:solidFill>
                            <a:schemeClr val="tx1"/>
                          </a:solidFill>
                          <a:latin typeface="Times New Roman" panose="02020603050405020304" pitchFamily="18" charset="0"/>
                          <a:cs typeface="Times New Roman" panose="02020603050405020304" pitchFamily="18" charset="0"/>
                        </a:rPr>
                        <a:t> NAME &amp; USN</a:t>
                      </a:r>
                    </a:p>
                    <a:p>
                      <a:pPr marL="0" marR="0" lvl="0" indent="0" algn="l" defTabSz="457200" rtl="0" eaLnBrk="1" fontAlgn="auto" latinLnBrk="0" hangingPunct="1">
                        <a:lnSpc>
                          <a:spcPct val="100000"/>
                        </a:lnSpc>
                        <a:spcBef>
                          <a:spcPts val="0"/>
                        </a:spcBef>
                        <a:spcAft>
                          <a:spcPts val="0"/>
                        </a:spcAft>
                        <a:buClrTx/>
                        <a:buSzTx/>
                        <a:buFontTx/>
                        <a:buNone/>
                        <a:tabLst/>
                        <a:defRPr/>
                      </a:pPr>
                      <a:r>
                        <a:rPr lang="en-IN" b="0" dirty="0">
                          <a:solidFill>
                            <a:schemeClr val="tx1">
                              <a:lumMod val="95000"/>
                              <a:lumOff val="5000"/>
                            </a:schemeClr>
                          </a:solidFill>
                          <a:latin typeface="Times New Roman" panose="02020603050405020304" pitchFamily="18" charset="0"/>
                          <a:cs typeface="Times New Roman" panose="02020603050405020304" pitchFamily="18" charset="0"/>
                        </a:rPr>
                        <a:t>Amaan Siddiqui-1DB23CS012 </a:t>
                      </a:r>
                    </a:p>
                    <a:p>
                      <a:pPr algn="l"/>
                      <a:r>
                        <a:rPr lang="en-IN" b="0" dirty="0">
                          <a:solidFill>
                            <a:schemeClr val="tx1">
                              <a:lumMod val="95000"/>
                              <a:lumOff val="5000"/>
                            </a:schemeClr>
                          </a:solidFill>
                          <a:latin typeface="Times New Roman" panose="02020603050405020304" pitchFamily="18" charset="0"/>
                          <a:cs typeface="Times New Roman" panose="02020603050405020304" pitchFamily="18" charset="0"/>
                        </a:rPr>
                        <a:t>Achuta Rao M -1DB23CS004 </a:t>
                      </a:r>
                    </a:p>
                    <a:p>
                      <a:pPr algn="l"/>
                      <a:r>
                        <a:rPr lang="en-IN" b="0" dirty="0" err="1">
                          <a:solidFill>
                            <a:schemeClr val="tx1">
                              <a:lumMod val="95000"/>
                              <a:lumOff val="5000"/>
                            </a:schemeClr>
                          </a:solidFill>
                          <a:latin typeface="Times New Roman" panose="02020603050405020304" pitchFamily="18" charset="0"/>
                          <a:cs typeface="Times New Roman" panose="02020603050405020304" pitchFamily="18" charset="0"/>
                        </a:rPr>
                        <a:t>Shreejal</a:t>
                      </a:r>
                      <a:r>
                        <a:rPr lang="en-IN" b="0" dirty="0">
                          <a:solidFill>
                            <a:schemeClr val="tx1">
                              <a:lumMod val="95000"/>
                              <a:lumOff val="5000"/>
                            </a:schemeClr>
                          </a:solidFill>
                          <a:latin typeface="Times New Roman" panose="02020603050405020304" pitchFamily="18" charset="0"/>
                          <a:cs typeface="Times New Roman" panose="02020603050405020304" pitchFamily="18" charset="0"/>
                        </a:rPr>
                        <a:t> Dash - 1DB23CS201</a:t>
                      </a:r>
                    </a:p>
                    <a:p>
                      <a:pPr algn="l"/>
                      <a:r>
                        <a:rPr lang="en-IN" b="0" dirty="0">
                          <a:solidFill>
                            <a:schemeClr val="tx1">
                              <a:lumMod val="95000"/>
                              <a:lumOff val="5000"/>
                            </a:schemeClr>
                          </a:solidFill>
                          <a:latin typeface="Times New Roman" panose="02020603050405020304" pitchFamily="18" charset="0"/>
                          <a:cs typeface="Times New Roman" panose="02020603050405020304" pitchFamily="18" charset="0"/>
                        </a:rPr>
                        <a:t>Kishan Kumar - 1DB23CS103 </a:t>
                      </a:r>
                    </a:p>
                    <a:p>
                      <a:pPr algn="ct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1067891"/>
                  </a:ext>
                </a:extLst>
              </a:tr>
            </a:tbl>
          </a:graphicData>
        </a:graphic>
      </p:graphicFrame>
      <p:graphicFrame>
        <p:nvGraphicFramePr>
          <p:cNvPr id="9" name="Table 8">
            <a:extLst>
              <a:ext uri="{FF2B5EF4-FFF2-40B4-BE49-F238E27FC236}">
                <a16:creationId xmlns:a16="http://schemas.microsoft.com/office/drawing/2014/main" id="{5C3AB730-C419-5D82-7924-E3D747ADFA78}"/>
              </a:ext>
            </a:extLst>
          </p:cNvPr>
          <p:cNvGraphicFramePr>
            <a:graphicFrameLocks noGrp="1"/>
          </p:cNvGraphicFramePr>
          <p:nvPr>
            <p:extLst>
              <p:ext uri="{D42A27DB-BD31-4B8C-83A1-F6EECF244321}">
                <p14:modId xmlns:p14="http://schemas.microsoft.com/office/powerpoint/2010/main" val="3333131330"/>
              </p:ext>
            </p:extLst>
          </p:nvPr>
        </p:nvGraphicFramePr>
        <p:xfrm>
          <a:off x="8504902" y="4277810"/>
          <a:ext cx="2969343" cy="2063995"/>
        </p:xfrm>
        <a:graphic>
          <a:graphicData uri="http://schemas.openxmlformats.org/drawingml/2006/table">
            <a:tbl>
              <a:tblPr firstRow="1" bandRow="1">
                <a:tableStyleId>{5C22544A-7EE6-4342-B048-85BDC9FD1C3A}</a:tableStyleId>
              </a:tblPr>
              <a:tblGrid>
                <a:gridCol w="2969343">
                  <a:extLst>
                    <a:ext uri="{9D8B030D-6E8A-4147-A177-3AD203B41FA5}">
                      <a16:colId xmlns:a16="http://schemas.microsoft.com/office/drawing/2014/main" val="3875321517"/>
                    </a:ext>
                  </a:extLst>
                </a:gridCol>
              </a:tblGrid>
              <a:tr h="2063995">
                <a:tc>
                  <a:txBody>
                    <a:bodyPr/>
                    <a:lstStyle/>
                    <a:p>
                      <a:pPr algn="ctr"/>
                      <a:r>
                        <a:rPr lang="en-IN" dirty="0">
                          <a:solidFill>
                            <a:schemeClr val="tx1"/>
                          </a:solidFill>
                          <a:latin typeface="Times New Roman" panose="02020603050405020304" pitchFamily="18" charset="0"/>
                          <a:cs typeface="Times New Roman" panose="02020603050405020304" pitchFamily="18" charset="0"/>
                        </a:rPr>
                        <a:t>Under the Guidance of :</a:t>
                      </a: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r>
                        <a:rPr lang="en-IN" b="1" dirty="0">
                          <a:solidFill>
                            <a:schemeClr val="tx1"/>
                          </a:solidFill>
                          <a:latin typeface="Times New Roman" panose="02020603050405020304" pitchFamily="18" charset="0"/>
                          <a:cs typeface="Times New Roman" panose="02020603050405020304" pitchFamily="18" charset="0"/>
                        </a:rPr>
                        <a:t>Mrs. Anjali Vyas</a:t>
                      </a:r>
                    </a:p>
                    <a:p>
                      <a:pPr algn="ctr"/>
                      <a:r>
                        <a:rPr lang="en-IN" b="0" dirty="0">
                          <a:solidFill>
                            <a:schemeClr val="tx1"/>
                          </a:solidFill>
                          <a:latin typeface="Times New Roman" panose="02020603050405020304" pitchFamily="18" charset="0"/>
                          <a:cs typeface="Times New Roman" panose="02020603050405020304" pitchFamily="18" charset="0"/>
                        </a:rPr>
                        <a:t>Assistant Professor</a:t>
                      </a:r>
                    </a:p>
                    <a:p>
                      <a:pPr algn="ctr"/>
                      <a:r>
                        <a:rPr lang="en-IN" b="0" dirty="0">
                          <a:solidFill>
                            <a:schemeClr val="tx1"/>
                          </a:solidFill>
                          <a:latin typeface="Times New Roman" panose="02020603050405020304" pitchFamily="18" charset="0"/>
                          <a:cs typeface="Times New Roman" panose="02020603050405020304" pitchFamily="18" charset="0"/>
                        </a:rPr>
                        <a:t>Dept. Of CSE</a:t>
                      </a:r>
                    </a:p>
                    <a:p>
                      <a:pPr algn="ct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106789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C49EB-2504-CC8E-1F03-CACD3B295D2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Abstract </a:t>
            </a:r>
          </a:p>
        </p:txBody>
      </p:sp>
      <p:sp>
        <p:nvSpPr>
          <p:cNvPr id="3" name="Content Placeholder 2">
            <a:extLst>
              <a:ext uri="{FF2B5EF4-FFF2-40B4-BE49-F238E27FC236}">
                <a16:creationId xmlns:a16="http://schemas.microsoft.com/office/drawing/2014/main" id="{8A32DDA2-9CAB-6253-BE21-C4A6847CDDAC}"/>
              </a:ext>
            </a:extLst>
          </p:cNvPr>
          <p:cNvSpPr>
            <a:spLocks noGrp="1"/>
          </p:cNvSpPr>
          <p:nvPr>
            <p:ph idx="1"/>
          </p:nvPr>
        </p:nvSpPr>
        <p:spPr>
          <a:xfrm>
            <a:off x="677334" y="1415845"/>
            <a:ext cx="8596668" cy="4625517"/>
          </a:xfrm>
        </p:spPr>
        <p:txBody>
          <a:bodyPr/>
          <a:lstStyle/>
          <a:p>
            <a:pPr marL="0" indent="0">
              <a:buNone/>
            </a:pPr>
            <a:r>
              <a:rPr lang="en-US" dirty="0">
                <a:latin typeface="Times New Roman" panose="02020603050405020304" pitchFamily="18" charset="0"/>
                <a:cs typeface="Times New Roman" panose="02020603050405020304" pitchFamily="18" charset="0"/>
              </a:rPr>
              <a:t>With over 130 million registered retail investor accounts in India, a large number of first-time investors lack the analytical tools and expertise required to interpret complex market signals, leading to poor decisions and financial losses.</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FinSight</a:t>
            </a:r>
            <a:r>
              <a:rPr lang="en-US" dirty="0">
                <a:latin typeface="Times New Roman" panose="02020603050405020304" pitchFamily="18" charset="0"/>
                <a:cs typeface="Times New Roman" panose="02020603050405020304" pitchFamily="18" charset="0"/>
              </a:rPr>
              <a:t> AI is a web-based, AI-powered conversational assistant that analyzes real-time stock market data, news sentiment, and financial documents to generate actionable investment insights.</a:t>
            </a:r>
          </a:p>
          <a:p>
            <a:pPr marL="0" indent="0">
              <a:buNone/>
            </a:pPr>
            <a:r>
              <a:rPr lang="en-US" dirty="0">
                <a:latin typeface="Times New Roman" panose="02020603050405020304" pitchFamily="18" charset="0"/>
                <a:cs typeface="Times New Roman" panose="02020603050405020304" pitchFamily="18" charset="0"/>
              </a:rPr>
              <a:t> The system integrates live NSE/BSE market data, Gemini 1.5 Flash LLM, and a Retrieval-Augmented Generation (RAG) framework powered by </a:t>
            </a:r>
            <a:r>
              <a:rPr lang="en-US" dirty="0" err="1">
                <a:latin typeface="Times New Roman" panose="02020603050405020304" pitchFamily="18" charset="0"/>
                <a:cs typeface="Times New Roman" panose="02020603050405020304" pitchFamily="18" charset="0"/>
              </a:rPr>
              <a:t>ChromaDB</a:t>
            </a:r>
            <a:r>
              <a:rPr lang="en-US" dirty="0">
                <a:latin typeface="Times New Roman" panose="02020603050405020304" pitchFamily="18" charset="0"/>
                <a:cs typeface="Times New Roman" panose="02020603050405020304" pitchFamily="18" charset="0"/>
              </a:rPr>
              <a:t> to deliver stock signals, SIP recommendations, IPO assessments, and a paper trading simulation. </a:t>
            </a:r>
          </a:p>
          <a:p>
            <a:pPr marL="0" indent="0">
              <a:buNone/>
            </a:pPr>
            <a:r>
              <a:rPr lang="en-US" dirty="0">
                <a:latin typeface="Times New Roman" panose="02020603050405020304" pitchFamily="18" charset="0"/>
                <a:cs typeface="Times New Roman" panose="02020603050405020304" pitchFamily="18" charset="0"/>
              </a:rPr>
              <a:t>The goal is to democratize financial analysis for retail investors who lack access to professional </a:t>
            </a:r>
            <a:r>
              <a:rPr lang="en-US">
                <a:latin typeface="Times New Roman" panose="02020603050405020304" pitchFamily="18" charset="0"/>
                <a:cs typeface="Times New Roman" panose="02020603050405020304" pitchFamily="18" charset="0"/>
              </a:rPr>
              <a:t>advisory services </a:t>
            </a:r>
            <a:r>
              <a:rPr lang="en-US" dirty="0">
                <a:latin typeface="Times New Roman" panose="02020603050405020304" pitchFamily="18" charset="0"/>
                <a:cs typeface="Times New Roman" panose="02020603050405020304" pitchFamily="18" charset="0"/>
              </a:rPr>
              <a:t>all through a simple conversational interface.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9207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F6B2A-8E93-8BCB-8FB0-A7A9D15C8E3F}"/>
              </a:ext>
            </a:extLst>
          </p:cNvPr>
          <p:cNvSpPr>
            <a:spLocks noGrp="1"/>
          </p:cNvSpPr>
          <p:nvPr>
            <p:ph type="title"/>
          </p:nvPr>
        </p:nvSpPr>
        <p:spPr>
          <a:xfrm>
            <a:off x="677334" y="609600"/>
            <a:ext cx="8596668" cy="845574"/>
          </a:xfrm>
        </p:spPr>
        <p:txBody>
          <a:bodyPr>
            <a:normAutofit fontScale="90000"/>
          </a:bodyPr>
          <a:lstStyle/>
          <a:p>
            <a:r>
              <a:rPr lang="en-IN" dirty="0">
                <a:latin typeface="Times New Roman" panose="02020603050405020304" pitchFamily="18" charset="0"/>
                <a:cs typeface="Times New Roman" panose="02020603050405020304" pitchFamily="18" charset="0"/>
              </a:rPr>
              <a:t>INTRODUCTION</a:t>
            </a:r>
            <a:br>
              <a:rPr lang="en-IN" dirty="0"/>
            </a:br>
            <a:br>
              <a:rPr lang="en-IN" dirty="0"/>
            </a:br>
            <a:endParaRPr lang="en-IN" dirty="0"/>
          </a:p>
        </p:txBody>
      </p:sp>
      <p:sp>
        <p:nvSpPr>
          <p:cNvPr id="3" name="Content Placeholder 2">
            <a:extLst>
              <a:ext uri="{FF2B5EF4-FFF2-40B4-BE49-F238E27FC236}">
                <a16:creationId xmlns:a16="http://schemas.microsoft.com/office/drawing/2014/main" id="{90A3A28E-919C-9DBE-0A59-DA3183970060}"/>
              </a:ext>
            </a:extLst>
          </p:cNvPr>
          <p:cNvSpPr>
            <a:spLocks noGrp="1"/>
          </p:cNvSpPr>
          <p:nvPr>
            <p:ph idx="1"/>
          </p:nvPr>
        </p:nvSpPr>
        <p:spPr>
          <a:xfrm>
            <a:off x="677334" y="1111044"/>
            <a:ext cx="10964060" cy="5289755"/>
          </a:xfrm>
        </p:spPr>
        <p:txBody>
          <a:bodyPr>
            <a:noAutofit/>
          </a:bodyPr>
          <a:lstStyle/>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India's retail investor base has grown rapidly due to digital trading platforms, yet most new investors lack structured analytical support.</a:t>
            </a:r>
          </a:p>
          <a:p>
            <a:pPr marL="0" indent="0" algn="just">
              <a:buNone/>
            </a:pPr>
            <a:r>
              <a:rPr lang="en-IN" dirty="0">
                <a:latin typeface="Times New Roman" panose="02020603050405020304" pitchFamily="18" charset="0"/>
                <a:cs typeface="Times New Roman" panose="02020603050405020304" pitchFamily="18" charset="0"/>
              </a:rPr>
              <a:t>Traditional tools provide raw price data but fail to combine market data, news sentiment, and AI-driven context into unified, understandable insights.</a:t>
            </a:r>
          </a:p>
          <a:p>
            <a:pPr marL="0" indent="0" algn="just">
              <a:buNone/>
            </a:pPr>
            <a:r>
              <a:rPr lang="en-IN" dirty="0">
                <a:latin typeface="Times New Roman" panose="02020603050405020304" pitchFamily="18" charset="0"/>
                <a:cs typeface="Times New Roman" panose="02020603050405020304" pitchFamily="18" charset="0"/>
              </a:rPr>
              <a:t>Recent advances in LLMs (Large Language Models) enable systems that interpret unstructured financial text alongside structured price data.</a:t>
            </a:r>
          </a:p>
          <a:p>
            <a:pPr marL="0" indent="0" algn="just">
              <a:buNone/>
            </a:pPr>
            <a:r>
              <a:rPr lang="en-IN" dirty="0" err="1">
                <a:latin typeface="Times New Roman" panose="02020603050405020304" pitchFamily="18" charset="0"/>
                <a:cs typeface="Times New Roman" panose="02020603050405020304" pitchFamily="18" charset="0"/>
              </a:rPr>
              <a:t>FinSight</a:t>
            </a:r>
            <a:r>
              <a:rPr lang="en-IN" dirty="0">
                <a:latin typeface="Times New Roman" panose="02020603050405020304" pitchFamily="18" charset="0"/>
                <a:cs typeface="Times New Roman" panose="02020603050405020304" pitchFamily="18" charset="0"/>
              </a:rPr>
              <a:t> AI proposes a full-stack conversational assistant built on a Decoupled Three-Tier Multi-Agent RAG Architecture:</a:t>
            </a:r>
          </a:p>
          <a:p>
            <a:pPr marL="0" indent="0" algn="just">
              <a:buNone/>
            </a:pPr>
            <a:r>
              <a:rPr lang="en-IN" dirty="0">
                <a:latin typeface="Times New Roman" panose="02020603050405020304" pitchFamily="18" charset="0"/>
                <a:cs typeface="Times New Roman" panose="02020603050405020304" pitchFamily="18" charset="0"/>
              </a:rPr>
              <a:t>  • Presentation Layer — React.js chatbot interface</a:t>
            </a:r>
          </a:p>
          <a:p>
            <a:pPr marL="0" indent="0" algn="just">
              <a:buNone/>
            </a:pPr>
            <a:r>
              <a:rPr lang="en-IN" dirty="0">
                <a:latin typeface="Times New Roman" panose="02020603050405020304" pitchFamily="18" charset="0"/>
                <a:cs typeface="Times New Roman" panose="02020603050405020304" pitchFamily="18" charset="0"/>
              </a:rPr>
              <a:t>  • Application Layer — </a:t>
            </a:r>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backend with Agentic Orchestrator</a:t>
            </a:r>
          </a:p>
          <a:p>
            <a:pPr marL="0" indent="0" algn="just">
              <a:buNone/>
            </a:pPr>
            <a:r>
              <a:rPr lang="en-IN" dirty="0">
                <a:latin typeface="Times New Roman" panose="02020603050405020304" pitchFamily="18" charset="0"/>
                <a:cs typeface="Times New Roman" panose="02020603050405020304" pitchFamily="18" charset="0"/>
              </a:rPr>
              <a:t>  • Intelligence Layer — Gemini 1.5 Flash + </a:t>
            </a:r>
            <a:r>
              <a:rPr lang="en-IN" dirty="0" err="1">
                <a:latin typeface="Times New Roman" panose="02020603050405020304" pitchFamily="18" charset="0"/>
                <a:cs typeface="Times New Roman" panose="02020603050405020304" pitchFamily="18" charset="0"/>
              </a:rPr>
              <a:t>ChromaDB</a:t>
            </a:r>
            <a:r>
              <a:rPr lang="en-IN" dirty="0">
                <a:latin typeface="Times New Roman" panose="02020603050405020304" pitchFamily="18" charset="0"/>
                <a:cs typeface="Times New Roman" panose="02020603050405020304" pitchFamily="18" charset="0"/>
              </a:rPr>
              <a:t> RAG</a:t>
            </a:r>
          </a:p>
          <a:p>
            <a:pPr marL="0" indent="0" algn="just">
              <a:buNone/>
            </a:pPr>
            <a:r>
              <a:rPr lang="en-IN" dirty="0">
                <a:latin typeface="Times New Roman" panose="02020603050405020304" pitchFamily="18" charset="0"/>
                <a:cs typeface="Times New Roman" panose="02020603050405020304" pitchFamily="18" charset="0"/>
              </a:rPr>
              <a:t>The system generates buy/hold/sell signals, SIP fund picks, IPO</a:t>
            </a:r>
          </a:p>
          <a:p>
            <a:pPr marL="0" indent="0" algn="just">
              <a:buNone/>
            </a:pPr>
            <a:r>
              <a:rPr lang="en-IN" dirty="0">
                <a:latin typeface="Times New Roman" panose="02020603050405020304" pitchFamily="18" charset="0"/>
                <a:cs typeface="Times New Roman" panose="02020603050405020304" pitchFamily="18" charset="0"/>
              </a:rPr>
              <a:t>assessments, sentiment analysis, and paper trading simulation all via natural language interaction.</a:t>
            </a:r>
          </a:p>
        </p:txBody>
      </p:sp>
    </p:spTree>
    <p:extLst>
      <p:ext uri="{BB962C8B-B14F-4D97-AF65-F5344CB8AC3E}">
        <p14:creationId xmlns:p14="http://schemas.microsoft.com/office/powerpoint/2010/main" val="85688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538C9-3D17-DE5E-3473-1BE4E61451DA}"/>
              </a:ext>
            </a:extLst>
          </p:cNvPr>
          <p:cNvSpPr>
            <a:spLocks noGrp="1"/>
          </p:cNvSpPr>
          <p:nvPr>
            <p:ph type="title"/>
          </p:nvPr>
        </p:nvSpPr>
        <p:spPr>
          <a:xfrm>
            <a:off x="677334" y="599768"/>
            <a:ext cx="8596668" cy="1320800"/>
          </a:xfrm>
        </p:spPr>
        <p:txBody>
          <a:bodyPr/>
          <a:lstStyle/>
          <a:p>
            <a:r>
              <a:rPr lang="en-US" dirty="0">
                <a:latin typeface="Times New Roman" panose="02020603050405020304" pitchFamily="18" charset="0"/>
                <a:cs typeface="Times New Roman" panose="02020603050405020304" pitchFamily="18" charset="0"/>
              </a:rPr>
              <a:t>PROBLEM STATEMENT</a:t>
            </a:r>
            <a:br>
              <a:rPr lang="en-US" dirty="0"/>
            </a:br>
            <a:endParaRPr lang="en-IN" dirty="0"/>
          </a:p>
        </p:txBody>
      </p:sp>
      <p:sp>
        <p:nvSpPr>
          <p:cNvPr id="3" name="Content Placeholder 2">
            <a:extLst>
              <a:ext uri="{FF2B5EF4-FFF2-40B4-BE49-F238E27FC236}">
                <a16:creationId xmlns:a16="http://schemas.microsoft.com/office/drawing/2014/main" id="{CE6F1208-1CAE-527D-C600-D0A9FF1DC2AF}"/>
              </a:ext>
            </a:extLst>
          </p:cNvPr>
          <p:cNvSpPr>
            <a:spLocks noGrp="1"/>
          </p:cNvSpPr>
          <p:nvPr>
            <p:ph idx="1"/>
          </p:nvPr>
        </p:nvSpPr>
        <p:spPr>
          <a:xfrm>
            <a:off x="677334" y="1553497"/>
            <a:ext cx="8596668" cy="4487865"/>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Retail investors in India often incur financial losses due to the absence of intelligent tools that interpret market data and sentiment in real time. Most existing trading platforms provide raw financial information but lack systems that combine market data, news sentiment, and AI-driven insights to support informed investment decisions.</a:t>
            </a:r>
            <a:endParaRPr lang="en-IN" b="1" dirty="0">
              <a:latin typeface="Times New Roman" panose="02020603050405020304" pitchFamily="18" charset="0"/>
              <a:cs typeface="Times New Roman" panose="02020603050405020304" pitchFamily="18" charset="0"/>
            </a:endParaRPr>
          </a:p>
          <a:p>
            <a:pPr marL="0" indent="0" algn="just">
              <a:buNone/>
            </a:pPr>
            <a:endParaRPr lang="en-IN" b="1" dirty="0"/>
          </a:p>
          <a:p>
            <a:pPr algn="just"/>
            <a:endParaRPr lang="en-IN" b="1" dirty="0"/>
          </a:p>
          <a:p>
            <a:pPr algn="just"/>
            <a:endParaRPr lang="en-IN" dirty="0"/>
          </a:p>
          <a:p>
            <a:pPr marL="0" indent="0">
              <a:buNone/>
            </a:pPr>
            <a:endParaRPr lang="en-IN" dirty="0"/>
          </a:p>
        </p:txBody>
      </p:sp>
    </p:spTree>
    <p:extLst>
      <p:ext uri="{BB962C8B-B14F-4D97-AF65-F5344CB8AC3E}">
        <p14:creationId xmlns:p14="http://schemas.microsoft.com/office/powerpoint/2010/main" val="1585947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197A2-DECA-E15E-56AD-27E93EE7FE11}"/>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OBJECTIVES</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25982FD-2391-9E85-F3C2-55193EA616B9}"/>
              </a:ext>
            </a:extLst>
          </p:cNvPr>
          <p:cNvSpPr>
            <a:spLocks noGrp="1"/>
          </p:cNvSpPr>
          <p:nvPr>
            <p:ph idx="1"/>
          </p:nvPr>
        </p:nvSpPr>
        <p:spPr>
          <a:xfrm>
            <a:off x="677334" y="1278195"/>
            <a:ext cx="8596668" cy="4763168"/>
          </a:xfrm>
        </p:spPr>
        <p:txBody>
          <a:bodyPr>
            <a:normAutofit fontScale="25000" lnSpcReduction="20000"/>
          </a:bodyPr>
          <a:lstStyle/>
          <a:p>
            <a:pPr marL="0" indent="0" algn="just">
              <a:buNone/>
            </a:pPr>
            <a:endParaRPr lang="en-US" sz="7200" dirty="0">
              <a:latin typeface="Times New Roman" panose="02020603050405020304" pitchFamily="18" charset="0"/>
              <a:cs typeface="Times New Roman" panose="02020603050405020304" pitchFamily="18" charset="0"/>
            </a:endParaRPr>
          </a:p>
          <a:p>
            <a:pPr marL="0" indent="0" algn="just">
              <a:buNone/>
            </a:pPr>
            <a:r>
              <a:rPr lang="en-US" sz="7200" dirty="0">
                <a:latin typeface="Times New Roman" panose="02020603050405020304" pitchFamily="18" charset="0"/>
                <a:cs typeface="Times New Roman" panose="02020603050405020304" pitchFamily="18" charset="0"/>
              </a:rPr>
              <a:t>To Develop </a:t>
            </a:r>
            <a:r>
              <a:rPr lang="en-US" sz="7200" dirty="0" err="1">
                <a:latin typeface="Times New Roman" panose="02020603050405020304" pitchFamily="18" charset="0"/>
                <a:cs typeface="Times New Roman" panose="02020603050405020304" pitchFamily="18" charset="0"/>
              </a:rPr>
              <a:t>FinSight</a:t>
            </a:r>
            <a:r>
              <a:rPr lang="en-US" sz="7200" dirty="0">
                <a:latin typeface="Times New Roman" panose="02020603050405020304" pitchFamily="18" charset="0"/>
                <a:cs typeface="Times New Roman" panose="02020603050405020304" pitchFamily="18" charset="0"/>
              </a:rPr>
              <a:t> AI — an intelligent conversational investment assistant providing real-time financial insights using LLM, RAG, and multi-agent architecture.</a:t>
            </a:r>
          </a:p>
          <a:p>
            <a:pPr marL="0" indent="0" algn="just">
              <a:buNone/>
            </a:pPr>
            <a:r>
              <a:rPr lang="en-US" sz="7200" dirty="0">
                <a:latin typeface="Times New Roman" panose="02020603050405020304" pitchFamily="18" charset="0"/>
                <a:cs typeface="Times New Roman" panose="02020603050405020304" pitchFamily="18" charset="0"/>
              </a:rPr>
              <a:t>→ Integrate real-time stock data from NSE and BSE via </a:t>
            </a:r>
            <a:r>
              <a:rPr lang="en-US" sz="7200" dirty="0" err="1">
                <a:latin typeface="Times New Roman" panose="02020603050405020304" pitchFamily="18" charset="0"/>
                <a:cs typeface="Times New Roman" panose="02020603050405020304" pitchFamily="18" charset="0"/>
              </a:rPr>
              <a:t>yfinance</a:t>
            </a:r>
            <a:r>
              <a:rPr lang="en-US" sz="7200" dirty="0">
                <a:latin typeface="Times New Roman" panose="02020603050405020304" pitchFamily="18" charset="0"/>
                <a:cs typeface="Times New Roman" panose="02020603050405020304" pitchFamily="18" charset="0"/>
              </a:rPr>
              <a:t> and </a:t>
            </a:r>
            <a:r>
              <a:rPr lang="en-US" sz="7200" dirty="0" err="1">
                <a:latin typeface="Times New Roman" panose="02020603050405020304" pitchFamily="18" charset="0"/>
                <a:cs typeface="Times New Roman" panose="02020603050405020304" pitchFamily="18" charset="0"/>
              </a:rPr>
              <a:t>nsepython</a:t>
            </a:r>
            <a:r>
              <a:rPr lang="en-US" sz="7200" dirty="0">
                <a:latin typeface="Times New Roman" panose="02020603050405020304" pitchFamily="18" charset="0"/>
                <a:cs typeface="Times New Roman" panose="02020603050405020304" pitchFamily="18" charset="0"/>
              </a:rPr>
              <a:t> for live price, OHLC, and NIFTY 50 analysis.</a:t>
            </a:r>
          </a:p>
          <a:p>
            <a:pPr marL="0" indent="0" algn="just">
              <a:buNone/>
            </a:pPr>
            <a:r>
              <a:rPr lang="en-US" sz="7200" dirty="0">
                <a:latin typeface="Times New Roman" panose="02020603050405020304" pitchFamily="18" charset="0"/>
                <a:cs typeface="Times New Roman" panose="02020603050405020304" pitchFamily="18" charset="0"/>
              </a:rPr>
              <a:t>→ Build an AI signal engine that generates Buy/Hold/Sell recommendations using RSI and 50/200-day moving average crossover via pandas-ta.</a:t>
            </a:r>
          </a:p>
          <a:p>
            <a:pPr marL="0" indent="0" algn="just">
              <a:buNone/>
            </a:pPr>
            <a:r>
              <a:rPr lang="en-US" sz="7200" dirty="0">
                <a:latin typeface="Times New Roman" panose="02020603050405020304" pitchFamily="18" charset="0"/>
                <a:cs typeface="Times New Roman" panose="02020603050405020304" pitchFamily="18" charset="0"/>
              </a:rPr>
              <a:t>→ Design a weighted multi-source sentiment pipeline combining Economic Times RSS (40%), </a:t>
            </a:r>
            <a:r>
              <a:rPr lang="en-US" sz="7200" dirty="0" err="1">
                <a:latin typeface="Times New Roman" panose="02020603050405020304" pitchFamily="18" charset="0"/>
                <a:cs typeface="Times New Roman" panose="02020603050405020304" pitchFamily="18" charset="0"/>
              </a:rPr>
              <a:t>Moneycontrol</a:t>
            </a:r>
            <a:r>
              <a:rPr lang="en-US" sz="7200" dirty="0">
                <a:latin typeface="Times New Roman" panose="02020603050405020304" pitchFamily="18" charset="0"/>
                <a:cs typeface="Times New Roman" panose="02020603050405020304" pitchFamily="18" charset="0"/>
              </a:rPr>
              <a:t> RSS (40%), and Reddit r/</a:t>
            </a:r>
            <a:r>
              <a:rPr lang="en-US" sz="7200" dirty="0" err="1">
                <a:latin typeface="Times New Roman" panose="02020603050405020304" pitchFamily="18" charset="0"/>
                <a:cs typeface="Times New Roman" panose="02020603050405020304" pitchFamily="18" charset="0"/>
              </a:rPr>
              <a:t>IndiaInvestments</a:t>
            </a:r>
            <a:r>
              <a:rPr lang="en-US" sz="7200" dirty="0">
                <a:latin typeface="Times New Roman" panose="02020603050405020304" pitchFamily="18" charset="0"/>
                <a:cs typeface="Times New Roman" panose="02020603050405020304" pitchFamily="18" charset="0"/>
              </a:rPr>
              <a:t> (20%) for market mood analysis.</a:t>
            </a:r>
          </a:p>
          <a:p>
            <a:pPr marL="0" indent="0" algn="just">
              <a:buNone/>
            </a:pPr>
            <a:r>
              <a:rPr lang="en-US" sz="7200" dirty="0">
                <a:latin typeface="Times New Roman" panose="02020603050405020304" pitchFamily="18" charset="0"/>
                <a:cs typeface="Times New Roman" panose="02020603050405020304" pitchFamily="18" charset="0"/>
              </a:rPr>
              <a:t>→ Implement a RAG pipeline using </a:t>
            </a:r>
            <a:r>
              <a:rPr lang="en-US" sz="7200" dirty="0" err="1">
                <a:latin typeface="Times New Roman" panose="02020603050405020304" pitchFamily="18" charset="0"/>
                <a:cs typeface="Times New Roman" panose="02020603050405020304" pitchFamily="18" charset="0"/>
              </a:rPr>
              <a:t>ChromaDB</a:t>
            </a:r>
            <a:r>
              <a:rPr lang="en-US" sz="7200" dirty="0">
                <a:latin typeface="Times New Roman" panose="02020603050405020304" pitchFamily="18" charset="0"/>
                <a:cs typeface="Times New Roman" panose="02020603050405020304" pitchFamily="18" charset="0"/>
              </a:rPr>
              <a:t> and Gemini embeddings over  DRHP prospectuses, SEBI circulars, and RBI documents for grounded, fact-based responses.</a:t>
            </a:r>
          </a:p>
          <a:p>
            <a:pPr marL="0" indent="0" algn="just">
              <a:buNone/>
            </a:pPr>
            <a:r>
              <a:rPr lang="en-US" sz="7200" dirty="0">
                <a:latin typeface="Times New Roman" panose="02020603050405020304" pitchFamily="18" charset="0"/>
                <a:cs typeface="Times New Roman" panose="02020603050405020304" pitchFamily="18" charset="0"/>
              </a:rPr>
              <a:t>→ Build a paper trading simulation module with ₹1,00,000 virtual capital for risk-free strategy testing backed by </a:t>
            </a:r>
            <a:r>
              <a:rPr lang="en-US" sz="7200" dirty="0" err="1">
                <a:latin typeface="Times New Roman" panose="02020603050405020304" pitchFamily="18" charset="0"/>
                <a:cs typeface="Times New Roman" panose="02020603050405020304" pitchFamily="18" charset="0"/>
              </a:rPr>
              <a:t>Supabase</a:t>
            </a:r>
            <a:r>
              <a:rPr lang="en-US" sz="7200"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4274160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5A963-A87D-04B3-9A3A-4E0B4FD4BFB4}"/>
              </a:ext>
            </a:extLst>
          </p:cNvPr>
          <p:cNvSpPr>
            <a:spLocks noGrp="1"/>
          </p:cNvSpPr>
          <p:nvPr>
            <p:ph type="title"/>
          </p:nvPr>
        </p:nvSpPr>
        <p:spPr>
          <a:xfrm>
            <a:off x="838201" y="127820"/>
            <a:ext cx="10216654" cy="562874"/>
          </a:xfrm>
        </p:spPr>
        <p:txBody>
          <a:bodyPr>
            <a:normAutofit fontScale="90000"/>
          </a:bodyPr>
          <a:lstStyle/>
          <a:p>
            <a:r>
              <a:rPr lang="en-IN" dirty="0">
                <a:latin typeface="Times New Roman" panose="02020603050405020304" pitchFamily="18" charset="0"/>
                <a:cs typeface="Times New Roman" panose="02020603050405020304" pitchFamily="18" charset="0"/>
              </a:rPr>
              <a:t>LITERATURE SURVEY</a:t>
            </a:r>
          </a:p>
        </p:txBody>
      </p:sp>
      <p:sp>
        <p:nvSpPr>
          <p:cNvPr id="5" name="Slide Number Placeholder 4">
            <a:extLst>
              <a:ext uri="{FF2B5EF4-FFF2-40B4-BE49-F238E27FC236}">
                <a16:creationId xmlns:a16="http://schemas.microsoft.com/office/drawing/2014/main" id="{EB0FFD50-5F3F-5BD9-66D7-D7029AB7F25C}"/>
              </a:ext>
            </a:extLst>
          </p:cNvPr>
          <p:cNvSpPr>
            <a:spLocks noGrp="1"/>
          </p:cNvSpPr>
          <p:nvPr/>
        </p:nvSpPr>
        <p:spPr>
          <a:xfrm>
            <a:off x="8908979" y="5802182"/>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1D60167-4931-47E6-BA6A-407CBD079E47}" type="slidenum">
              <a:rPr lang="en-IN" spc="-50" smtClean="0"/>
              <a:pPr/>
              <a:t>6</a:t>
            </a:fld>
            <a:endParaRPr lang="en-US"/>
          </a:p>
        </p:txBody>
      </p:sp>
      <p:graphicFrame>
        <p:nvGraphicFramePr>
          <p:cNvPr id="9" name="Content Placeholder 8">
            <a:extLst>
              <a:ext uri="{FF2B5EF4-FFF2-40B4-BE49-F238E27FC236}">
                <a16:creationId xmlns:a16="http://schemas.microsoft.com/office/drawing/2014/main" id="{3F11FECF-438F-6DA2-F295-AA81898746EB}"/>
              </a:ext>
            </a:extLst>
          </p:cNvPr>
          <p:cNvGraphicFramePr>
            <a:graphicFrameLocks noGrp="1"/>
          </p:cNvGraphicFramePr>
          <p:nvPr>
            <p:ph idx="1"/>
            <p:extLst>
              <p:ext uri="{D42A27DB-BD31-4B8C-83A1-F6EECF244321}">
                <p14:modId xmlns:p14="http://schemas.microsoft.com/office/powerpoint/2010/main" val="2493230419"/>
              </p:ext>
            </p:extLst>
          </p:nvPr>
        </p:nvGraphicFramePr>
        <p:xfrm>
          <a:off x="353961" y="690693"/>
          <a:ext cx="11405421" cy="5747998"/>
        </p:xfrm>
        <a:graphic>
          <a:graphicData uri="http://schemas.openxmlformats.org/drawingml/2006/table">
            <a:tbl>
              <a:tblPr firstRow="1" bandRow="1">
                <a:tableStyleId>{5C22544A-7EE6-4342-B048-85BDC9FD1C3A}</a:tableStyleId>
              </a:tblPr>
              <a:tblGrid>
                <a:gridCol w="852017">
                  <a:extLst>
                    <a:ext uri="{9D8B030D-6E8A-4147-A177-3AD203B41FA5}">
                      <a16:colId xmlns:a16="http://schemas.microsoft.com/office/drawing/2014/main" val="2193715836"/>
                    </a:ext>
                  </a:extLst>
                </a:gridCol>
                <a:gridCol w="2591283">
                  <a:extLst>
                    <a:ext uri="{9D8B030D-6E8A-4147-A177-3AD203B41FA5}">
                      <a16:colId xmlns:a16="http://schemas.microsoft.com/office/drawing/2014/main" val="3332314071"/>
                    </a:ext>
                  </a:extLst>
                </a:gridCol>
                <a:gridCol w="3399951">
                  <a:extLst>
                    <a:ext uri="{9D8B030D-6E8A-4147-A177-3AD203B41FA5}">
                      <a16:colId xmlns:a16="http://schemas.microsoft.com/office/drawing/2014/main" val="3447578427"/>
                    </a:ext>
                  </a:extLst>
                </a:gridCol>
                <a:gridCol w="2403078">
                  <a:extLst>
                    <a:ext uri="{9D8B030D-6E8A-4147-A177-3AD203B41FA5}">
                      <a16:colId xmlns:a16="http://schemas.microsoft.com/office/drawing/2014/main" val="1258518967"/>
                    </a:ext>
                  </a:extLst>
                </a:gridCol>
                <a:gridCol w="2159092">
                  <a:extLst>
                    <a:ext uri="{9D8B030D-6E8A-4147-A177-3AD203B41FA5}">
                      <a16:colId xmlns:a16="http://schemas.microsoft.com/office/drawing/2014/main" val="2783606668"/>
                    </a:ext>
                  </a:extLst>
                </a:gridCol>
              </a:tblGrid>
              <a:tr h="799098">
                <a:tc>
                  <a:txBody>
                    <a:bodyPr/>
                    <a:lstStyle/>
                    <a:p>
                      <a:r>
                        <a:rPr lang="en-US" sz="1600" dirty="0">
                          <a:latin typeface="Times New Roman" panose="02020603050405020304" pitchFamily="18" charset="0"/>
                          <a:cs typeface="Times New Roman" panose="02020603050405020304" pitchFamily="18" charset="0"/>
                        </a:rPr>
                        <a:t>SI Number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Authors &amp; Year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Title</a:t>
                      </a:r>
                      <a:endParaRPr lang="en-IN" sz="1600" dirty="0">
                        <a:latin typeface="Times New Roman" panose="02020603050405020304" pitchFamily="18" charset="0"/>
                        <a:cs typeface="Times New Roman" panose="02020603050405020304" pitchFamily="18" charset="0"/>
                      </a:endParaRPr>
                    </a:p>
                  </a:txBody>
                  <a:tcPr/>
                </a:tc>
                <a:tc>
                  <a:txBody>
                    <a:bodyPr/>
                    <a:lstStyle/>
                    <a:p>
                      <a:pPr>
                        <a:buNone/>
                      </a:pPr>
                      <a:r>
                        <a:rPr lang="en-US" sz="1600" dirty="0">
                          <a:latin typeface="Times New Roman" panose="02020603050405020304" pitchFamily="18" charset="0"/>
                          <a:cs typeface="Times New Roman" panose="02020603050405020304" pitchFamily="18" charset="0"/>
                        </a:rPr>
                        <a:t>Methodology</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600" dirty="0">
                          <a:latin typeface="Times New Roman" panose="02020603050405020304" pitchFamily="18" charset="0"/>
                          <a:cs typeface="Times New Roman" panose="02020603050405020304" pitchFamily="18" charset="0"/>
                        </a:rPr>
                        <a:t>Limitations</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97503449"/>
                  </a:ext>
                </a:extLst>
              </a:tr>
              <a:tr h="799098">
                <a:tc>
                  <a:txBody>
                    <a:bodyPr/>
                    <a:lstStyle/>
                    <a:p>
                      <a:r>
                        <a:rPr lang="en-US" sz="1600" dirty="0">
                          <a:latin typeface="Times New Roman" panose="02020603050405020304" pitchFamily="18" charset="0"/>
                          <a:cs typeface="Times New Roman" panose="02020603050405020304" pitchFamily="18" charset="0"/>
                        </a:rPr>
                        <a:t>1)</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err="1">
                          <a:latin typeface="Times New Roman" panose="02020603050405020304" pitchFamily="18" charset="0"/>
                          <a:cs typeface="Times New Roman" panose="02020603050405020304" pitchFamily="18" charset="0"/>
                        </a:rPr>
                        <a:t>Luckianto</a:t>
                      </a:r>
                      <a:r>
                        <a:rPr lang="en-IN" sz="1600" dirty="0">
                          <a:latin typeface="Times New Roman" panose="02020603050405020304" pitchFamily="18" charset="0"/>
                          <a:cs typeface="Times New Roman" panose="02020603050405020304" pitchFamily="18" charset="0"/>
                        </a:rPr>
                        <a:t> et al. (2026)</a:t>
                      </a:r>
                    </a:p>
                  </a:txBody>
                  <a:tcPr/>
                </a:tc>
                <a:tc>
                  <a:txBody>
                    <a:bodyPr/>
                    <a:lstStyle/>
                    <a:p>
                      <a:pPr algn="l"/>
                      <a:r>
                        <a:rPr lang="en-IN" sz="1600" dirty="0">
                          <a:latin typeface="Times New Roman" panose="02020603050405020304" pitchFamily="18" charset="0"/>
                          <a:cs typeface="Times New Roman" panose="02020603050405020304" pitchFamily="18" charset="0"/>
                        </a:rPr>
                        <a:t>MARAG-Fin: Intelligent Multi-Agent RAG-LLM.</a:t>
                      </a:r>
                    </a:p>
                  </a:txBody>
                  <a:tcPr/>
                </a:tc>
                <a:tc>
                  <a:txBody>
                    <a:bodyPr/>
                    <a:lstStyle/>
                    <a:p>
                      <a:r>
                        <a:rPr lang="en-US" sz="1600" dirty="0">
                          <a:latin typeface="Times New Roman" panose="02020603050405020304" pitchFamily="18" charset="0"/>
                          <a:cs typeface="Times New Roman" panose="02020603050405020304" pitchFamily="18" charset="0"/>
                        </a:rPr>
                        <a:t>Multi-agent RAG with </a:t>
                      </a:r>
                      <a:r>
                        <a:rPr lang="en-US" sz="1600" dirty="0" err="1">
                          <a:latin typeface="Times New Roman" panose="02020603050405020304" pitchFamily="18" charset="0"/>
                          <a:cs typeface="Times New Roman" panose="02020603050405020304" pitchFamily="18" charset="0"/>
                        </a:rPr>
                        <a:t>NeuralProphet</a:t>
                      </a:r>
                      <a:r>
                        <a:rPr lang="en-US" sz="1600" dirty="0">
                          <a:latin typeface="Times New Roman" panose="02020603050405020304" pitchFamily="18" charset="0"/>
                          <a:cs typeface="Times New Roman" panose="02020603050405020304" pitchFamily="18" charset="0"/>
                        </a:rPr>
                        <a:t> for index forecasting.</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High latency in real-time agent coordination.</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9288430"/>
                  </a:ext>
                </a:extLst>
              </a:tr>
              <a:tr h="1038828">
                <a:tc>
                  <a:txBody>
                    <a:bodyPr/>
                    <a:lstStyle/>
                    <a:p>
                      <a:r>
                        <a:rPr lang="en-US" sz="1600" dirty="0">
                          <a:latin typeface="Times New Roman" panose="02020603050405020304" pitchFamily="18" charset="0"/>
                          <a:cs typeface="Times New Roman" panose="02020603050405020304" pitchFamily="18" charset="0"/>
                        </a:rPr>
                        <a:t>2)</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Das et al.</a:t>
                      </a:r>
                    </a:p>
                    <a:p>
                      <a:r>
                        <a:rPr lang="en-US" sz="1600" dirty="0">
                          <a:latin typeface="Times New Roman" panose="02020603050405020304" pitchFamily="18" charset="0"/>
                          <a:cs typeface="Times New Roman" panose="02020603050405020304" pitchFamily="18" charset="0"/>
                        </a:rPr>
                        <a:t>(2025)</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Order-Aware multimodal fusion for financial advisory</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Transformer-based fusion of video and financial text.</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Focuses on summary quality, not price prediction.</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40714990"/>
                  </a:ext>
                </a:extLst>
              </a:tr>
              <a:tr h="1012211">
                <a:tc>
                  <a:txBody>
                    <a:bodyPr/>
                    <a:lstStyle/>
                    <a:p>
                      <a:r>
                        <a:rPr lang="en-US" sz="1600" dirty="0">
                          <a:latin typeface="Times New Roman" panose="02020603050405020304" pitchFamily="18" charset="0"/>
                          <a:cs typeface="Times New Roman" panose="02020603050405020304" pitchFamily="18" charset="0"/>
                        </a:rPr>
                        <a:t>3)</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err="1">
                          <a:latin typeface="Times New Roman" panose="02020603050405020304" pitchFamily="18" charset="0"/>
                          <a:cs typeface="Times New Roman" panose="02020603050405020304" pitchFamily="18" charset="0"/>
                        </a:rPr>
                        <a:t>Liagkouras</a:t>
                      </a:r>
                      <a:r>
                        <a:rPr lang="en-IN" sz="1600" dirty="0">
                          <a:latin typeface="Times New Roman" panose="02020603050405020304" pitchFamily="18" charset="0"/>
                          <a:cs typeface="Times New Roman" panose="02020603050405020304" pitchFamily="18" charset="0"/>
                        </a:rPr>
                        <a:t> et al. (2025)</a:t>
                      </a:r>
                    </a:p>
                  </a:txBody>
                  <a:tcPr/>
                </a:tc>
                <a:tc>
                  <a:txBody>
                    <a:bodyPr/>
                    <a:lstStyle/>
                    <a:p>
                      <a:r>
                        <a:rPr lang="en-IN" sz="1600" dirty="0">
                          <a:latin typeface="Times New Roman" panose="02020603050405020304" pitchFamily="18" charset="0"/>
                          <a:cs typeface="Times New Roman" panose="02020603050405020304" pitchFamily="18" charset="0"/>
                        </a:rPr>
                        <a:t>Hybrid LSTM with Sentiment Analysis System.</a:t>
                      </a:r>
                    </a:p>
                  </a:txBody>
                  <a:tcPr/>
                </a:tc>
                <a:tc>
                  <a:txBody>
                    <a:bodyPr/>
                    <a:lstStyle/>
                    <a:p>
                      <a:r>
                        <a:rPr lang="en-US" sz="1600" dirty="0">
                          <a:latin typeface="Times New Roman" panose="02020603050405020304" pitchFamily="18" charset="0"/>
                          <a:cs typeface="Times New Roman" panose="02020603050405020304" pitchFamily="18" charset="0"/>
                        </a:rPr>
                        <a:t>Fuses LSTM with news sentiment for directional prediction.</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Limited to regulatory news; lacks social media signals.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31656866"/>
                  </a:ext>
                </a:extLst>
              </a:tr>
              <a:tr h="1012211">
                <a:tc>
                  <a:txBody>
                    <a:bodyPr/>
                    <a:lstStyle/>
                    <a:p>
                      <a:r>
                        <a:rPr lang="en-US" sz="1600" dirty="0">
                          <a:latin typeface="Times New Roman" panose="02020603050405020304" pitchFamily="18" charset="0"/>
                          <a:cs typeface="Times New Roman" panose="02020603050405020304" pitchFamily="18" charset="0"/>
                        </a:rPr>
                        <a:t>4)</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Jadhav et al. (2025)</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LLMs in Equity Markets: Applications &amp; Insights.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Review of LLM techniques for portfolio and risk research.</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Highlights LLM "black box" interpretability issues.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26062513"/>
                  </a:ext>
                </a:extLst>
              </a:tr>
              <a:tr h="1038828">
                <a:tc>
                  <a:txBody>
                    <a:bodyPr/>
                    <a:lstStyle/>
                    <a:p>
                      <a:r>
                        <a:rPr lang="en-US" sz="1600" dirty="0">
                          <a:latin typeface="Times New Roman" panose="02020603050405020304" pitchFamily="18" charset="0"/>
                          <a:cs typeface="Times New Roman" panose="02020603050405020304" pitchFamily="18" charset="0"/>
                        </a:rPr>
                        <a:t>5)</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Srivatsan N. (2025)</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Using LLMs to Predict Stock Price: A Hybrid Model.</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Zero-shot sentiment + LSTM + </a:t>
                      </a:r>
                      <a:r>
                        <a:rPr lang="en-IN" sz="1600" dirty="0" err="1">
                          <a:latin typeface="Times New Roman" panose="02020603050405020304" pitchFamily="18" charset="0"/>
                          <a:cs typeface="Times New Roman" panose="02020603050405020304" pitchFamily="18" charset="0"/>
                        </a:rPr>
                        <a:t>XGBoost</a:t>
                      </a:r>
                      <a:r>
                        <a:rPr lang="en-IN" sz="1600" dirty="0">
                          <a:latin typeface="Times New Roman" panose="02020603050405020304" pitchFamily="18" charset="0"/>
                          <a:cs typeface="Times New Roman" panose="02020603050405020304" pitchFamily="18" charset="0"/>
                        </a:rPr>
                        <a:t> hybrid.</a:t>
                      </a:r>
                    </a:p>
                  </a:txBody>
                  <a:tcPr/>
                </a:tc>
                <a:tc>
                  <a:txBody>
                    <a:bodyPr/>
                    <a:lstStyle/>
                    <a:p>
                      <a:r>
                        <a:rPr lang="en-US" sz="1600" dirty="0">
                          <a:latin typeface="Times New Roman" panose="02020603050405020304" pitchFamily="18" charset="0"/>
                          <a:cs typeface="Times New Roman" panose="02020603050405020304" pitchFamily="18" charset="0"/>
                        </a:rPr>
                        <a:t>Accuracy depends entirely on high social media volume.</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52296015"/>
                  </a:ext>
                </a:extLst>
              </a:tr>
            </a:tbl>
          </a:graphicData>
        </a:graphic>
      </p:graphicFrame>
    </p:spTree>
    <p:extLst>
      <p:ext uri="{BB962C8B-B14F-4D97-AF65-F5344CB8AC3E}">
        <p14:creationId xmlns:p14="http://schemas.microsoft.com/office/powerpoint/2010/main" val="2561873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A0538-106F-87B9-7882-22D3C9A2FEF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System Design and Architecture </a:t>
            </a:r>
          </a:p>
        </p:txBody>
      </p:sp>
      <p:pic>
        <p:nvPicPr>
          <p:cNvPr id="4" name="Content Placeholder 3">
            <a:extLst>
              <a:ext uri="{FF2B5EF4-FFF2-40B4-BE49-F238E27FC236}">
                <a16:creationId xmlns:a16="http://schemas.microsoft.com/office/drawing/2014/main" id="{0BCCDD40-A4C1-5CD1-C88C-CB89F3C86983}"/>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904569" y="2259782"/>
            <a:ext cx="9901084" cy="4170516"/>
          </a:xfrm>
          <a:prstGeom prst="rect">
            <a:avLst/>
          </a:prstGeom>
        </p:spPr>
      </p:pic>
    </p:spTree>
    <p:extLst>
      <p:ext uri="{BB962C8B-B14F-4D97-AF65-F5344CB8AC3E}">
        <p14:creationId xmlns:p14="http://schemas.microsoft.com/office/powerpoint/2010/main" val="1288960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626D5-0445-E6DE-4DEE-204BEA4F5BFC}"/>
              </a:ext>
            </a:extLst>
          </p:cNvPr>
          <p:cNvSpPr>
            <a:spLocks noGrp="1"/>
          </p:cNvSpPr>
          <p:nvPr>
            <p:ph type="title"/>
          </p:nvPr>
        </p:nvSpPr>
        <p:spPr>
          <a:xfrm>
            <a:off x="838200" y="178312"/>
            <a:ext cx="10515600" cy="844243"/>
          </a:xfrm>
        </p:spPr>
        <p:txBody>
          <a:bodyPr/>
          <a:lstStyle/>
          <a:p>
            <a:r>
              <a:rPr lang="en-IN" dirty="0">
                <a:latin typeface="Times New Roman" panose="02020603050405020304" pitchFamily="18" charset="0"/>
                <a:cs typeface="Times New Roman" panose="02020603050405020304" pitchFamily="18" charset="0"/>
              </a:rPr>
              <a:t>INITIAL FINDINGS</a:t>
            </a:r>
          </a:p>
        </p:txBody>
      </p:sp>
      <p:sp>
        <p:nvSpPr>
          <p:cNvPr id="3" name="Content Placeholder 2">
            <a:extLst>
              <a:ext uri="{FF2B5EF4-FFF2-40B4-BE49-F238E27FC236}">
                <a16:creationId xmlns:a16="http://schemas.microsoft.com/office/drawing/2014/main" id="{8A49F382-443E-99D9-FB03-AD66CD9E98D6}"/>
              </a:ext>
            </a:extLst>
          </p:cNvPr>
          <p:cNvSpPr>
            <a:spLocks noGrp="1"/>
          </p:cNvSpPr>
          <p:nvPr>
            <p:ph idx="1"/>
          </p:nvPr>
        </p:nvSpPr>
        <p:spPr>
          <a:xfrm>
            <a:off x="838200" y="838200"/>
            <a:ext cx="10515600" cy="5338763"/>
          </a:xfrm>
        </p:spPr>
        <p:txBody>
          <a:bodyPr>
            <a:noAutofit/>
          </a:bodyPr>
          <a:lstStyle/>
          <a:p>
            <a:pPr marL="0" indent="0" algn="just">
              <a:buNone/>
            </a:pPr>
            <a:r>
              <a:rPr lang="en-US" b="1" dirty="0">
                <a:latin typeface="Times New Roman" panose="02020603050405020304" pitchFamily="18" charset="0"/>
                <a:cs typeface="Times New Roman" panose="02020603050405020304" pitchFamily="18" charset="0"/>
              </a:rPr>
              <a:t>Development Status: Phase 1 (Core Pipeline)</a:t>
            </a:r>
          </a:p>
          <a:p>
            <a:pPr marL="0" indent="0" algn="just">
              <a:buNone/>
            </a:pPr>
            <a:r>
              <a:rPr lang="en-US" dirty="0">
                <a:latin typeface="Times New Roman" panose="02020603050405020304" pitchFamily="18" charset="0"/>
                <a:cs typeface="Times New Roman" panose="02020603050405020304" pitchFamily="18" charset="0"/>
              </a:rPr>
              <a:t>Orchestrator Logic: The orchestrator.py module is fully functional, utilizing a 5-step asynchronous pipeline (Intent to Response) with validated routing for 9 specific financial intent types.</a:t>
            </a:r>
          </a:p>
          <a:p>
            <a:pPr marL="0" indent="0" algn="just">
              <a:buNone/>
            </a:pPr>
            <a:r>
              <a:rPr lang="en-US" dirty="0">
                <a:latin typeface="Times New Roman" panose="02020603050405020304" pitchFamily="18" charset="0"/>
                <a:cs typeface="Times New Roman" panose="02020603050405020304" pitchFamily="18" charset="0"/>
              </a:rPr>
              <a:t>Context Engineering: The context_assembler.py is implemented, featuring a 7-section structured prompt and RAG integration with cosine-distance relevance scoring to ensure high-fidelity responses.</a:t>
            </a:r>
          </a:p>
          <a:p>
            <a:pPr marL="0" indent="0" algn="just">
              <a:buNone/>
            </a:pPr>
            <a:r>
              <a:rPr lang="en-US" dirty="0">
                <a:latin typeface="Times New Roman" panose="02020603050405020304" pitchFamily="18" charset="0"/>
                <a:cs typeface="Times New Roman" panose="02020603050405020304" pitchFamily="18" charset="0"/>
              </a:rPr>
              <a:t>System Integrity: All I/O operations are strictly non-blocking (</a:t>
            </a:r>
            <a:r>
              <a:rPr lang="en-US" dirty="0" err="1">
                <a:latin typeface="Times New Roman" panose="02020603050405020304" pitchFamily="18" charset="0"/>
                <a:cs typeface="Times New Roman" panose="02020603050405020304" pitchFamily="18" charset="0"/>
              </a:rPr>
              <a:t>asyncio</a:t>
            </a:r>
            <a:r>
              <a:rPr lang="en-US" dirty="0">
                <a:latin typeface="Times New Roman" panose="02020603050405020304" pitchFamily="18" charset="0"/>
                <a:cs typeface="Times New Roman" panose="02020603050405020304" pitchFamily="18" charset="0"/>
              </a:rPr>
              <a:t>), and every generated insight is now hardcoded with a mandatory SEBI disclaimer for regulatory compliance.</a:t>
            </a:r>
          </a:p>
          <a:p>
            <a:pPr marL="0" indent="0" algn="just">
              <a:buNone/>
            </a:pPr>
            <a:r>
              <a:rPr lang="en-US" dirty="0">
                <a:latin typeface="Times New Roman" panose="02020603050405020304" pitchFamily="18" charset="0"/>
                <a:cs typeface="Times New Roman" panose="02020603050405020304" pitchFamily="18" charset="0"/>
              </a:rPr>
              <a:t>Validated Decisions: Market data is prioritized over RAG context for real-time accuracy, while Reddit sentiment is weighted at 20% to mitigate social media noise.</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Current Focus</a:t>
            </a:r>
          </a:p>
          <a:p>
            <a:pPr marL="0" indent="0" algn="just">
              <a:buNone/>
            </a:pPr>
            <a:r>
              <a:rPr lang="en-US" dirty="0">
                <a:latin typeface="Times New Roman" panose="02020603050405020304" pitchFamily="18" charset="0"/>
                <a:cs typeface="Times New Roman" panose="02020603050405020304" pitchFamily="18" charset="0"/>
              </a:rPr>
              <a:t>The project is transitioning from core orchestration to </a:t>
            </a:r>
            <a:r>
              <a:rPr lang="en-US" b="1" dirty="0">
                <a:latin typeface="Times New Roman" panose="02020603050405020304" pitchFamily="18" charset="0"/>
                <a:cs typeface="Times New Roman" panose="02020603050405020304" pitchFamily="18" charset="0"/>
              </a:rPr>
              <a:t>Service Integration</a:t>
            </a:r>
            <a:r>
              <a:rPr lang="en-US" dirty="0">
                <a:latin typeface="Times New Roman" panose="02020603050405020304" pitchFamily="18" charset="0"/>
                <a:cs typeface="Times New Roman" panose="02020603050405020304" pitchFamily="18" charset="0"/>
              </a:rPr>
              <a:t>, with active development starting on the Gemini 1.5 Flash inference engine and real-time market data scrapers.</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84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44A2B-7CD6-85AC-1586-5110405A267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Technical Implementation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DF276C3-BB10-284B-D0EC-DFBD79F6A288}"/>
              </a:ext>
            </a:extLst>
          </p:cNvPr>
          <p:cNvSpPr>
            <a:spLocks noGrp="1"/>
          </p:cNvSpPr>
          <p:nvPr>
            <p:ph idx="1"/>
          </p:nvPr>
        </p:nvSpPr>
        <p:spPr>
          <a:xfrm>
            <a:off x="677334" y="1463041"/>
            <a:ext cx="10732346" cy="4578322"/>
          </a:xfrm>
        </p:spPr>
        <p:txBody>
          <a:bodyPr>
            <a:normAutofit/>
          </a:bodyPr>
          <a:lstStyle/>
          <a:p>
            <a:pPr algn="just"/>
            <a:r>
              <a:rPr lang="en-US" dirty="0">
                <a:latin typeface="Times New Roman" panose="02020603050405020304" pitchFamily="18" charset="0"/>
                <a:cs typeface="Times New Roman" panose="02020603050405020304" pitchFamily="18" charset="0"/>
              </a:rPr>
              <a:t>As of Review 2, the core backend infrastructure of </a:t>
            </a:r>
            <a:r>
              <a:rPr lang="en-US" dirty="0" err="1">
                <a:latin typeface="Times New Roman" panose="02020603050405020304" pitchFamily="18" charset="0"/>
                <a:cs typeface="Times New Roman" panose="02020603050405020304" pitchFamily="18" charset="0"/>
              </a:rPr>
              <a:t>FinSight</a:t>
            </a:r>
            <a:r>
              <a:rPr lang="en-US" dirty="0">
                <a:latin typeface="Times New Roman" panose="02020603050405020304" pitchFamily="18" charset="0"/>
                <a:cs typeface="Times New Roman" panose="02020603050405020304" pitchFamily="18" charset="0"/>
              </a:rPr>
              <a:t> AI is fully operational. The </a:t>
            </a:r>
            <a:r>
              <a:rPr lang="en-US" dirty="0" err="1">
                <a:latin typeface="Times New Roman" panose="02020603050405020304" pitchFamily="18" charset="0"/>
                <a:cs typeface="Times New Roman" panose="02020603050405020304" pitchFamily="18" charset="0"/>
              </a:rPr>
              <a:t>FastAPI</a:t>
            </a:r>
            <a:r>
              <a:rPr lang="en-US" dirty="0">
                <a:latin typeface="Times New Roman" panose="02020603050405020304" pitchFamily="18" charset="0"/>
                <a:cs typeface="Times New Roman" panose="02020603050405020304" pitchFamily="18" charset="0"/>
              </a:rPr>
              <a:t> application server is production-ready with all six API routers registered, SQLite database initialized, and a 30-minute </a:t>
            </a:r>
            <a:r>
              <a:rPr lang="en-US" dirty="0" err="1">
                <a:latin typeface="Times New Roman" panose="02020603050405020304" pitchFamily="18" charset="0"/>
                <a:cs typeface="Times New Roman" panose="02020603050405020304" pitchFamily="18" charset="0"/>
              </a:rPr>
              <a:t>APScheduler</a:t>
            </a:r>
            <a:r>
              <a:rPr lang="en-US" dirty="0">
                <a:latin typeface="Times New Roman" panose="02020603050405020304" pitchFamily="18" charset="0"/>
                <a:cs typeface="Times New Roman" panose="02020603050405020304" pitchFamily="18" charset="0"/>
              </a:rPr>
              <a:t> refresh cycle actively running.</a:t>
            </a:r>
          </a:p>
          <a:p>
            <a:pPr algn="just"/>
            <a:r>
              <a:rPr lang="en-US" dirty="0">
                <a:latin typeface="Times New Roman" panose="02020603050405020304" pitchFamily="18" charset="0"/>
                <a:cs typeface="Times New Roman" panose="02020603050405020304" pitchFamily="18" charset="0"/>
              </a:rPr>
              <a:t>The paper trading engine is 95% complete, supporting real buy/sell execution with balance validation, P&amp;L calculation, average price computation on repeated purchases, and full transaction history all backed by a live SQLite database seeded with ₹1,00,000 virtue.</a:t>
            </a:r>
          </a:p>
          <a:p>
            <a:pPr algn="just"/>
            <a:r>
              <a:rPr lang="en-US" dirty="0">
                <a:latin typeface="Times New Roman" panose="02020603050405020304" pitchFamily="18" charset="0"/>
                <a:cs typeface="Times New Roman" panose="02020603050405020304" pitchFamily="18" charset="0"/>
              </a:rPr>
              <a:t>The context assembler, which bridges the agentic orchestrator and Gemini 1.5 Flash, is 80% complete with a 7-section structured prompt builder handling live market data, technical signals, sentiment scores, RAG knowledge chunks, IPO data, and portfolio context. </a:t>
            </a:r>
          </a:p>
          <a:p>
            <a:pPr algn="just"/>
            <a:r>
              <a:rPr lang="en-US" dirty="0">
                <a:latin typeface="Times New Roman" panose="02020603050405020304" pitchFamily="18" charset="0"/>
                <a:cs typeface="Times New Roman" panose="02020603050405020304" pitchFamily="18" charset="0"/>
              </a:rPr>
              <a:t>The orchestrator itself implements a 5-step agentic pipeline with dual-mode support for both batch and real-time streaming responses, with all tool calls executing concurrently via </a:t>
            </a:r>
            <a:r>
              <a:rPr lang="en-US" dirty="0" err="1">
                <a:latin typeface="Times New Roman" panose="02020603050405020304" pitchFamily="18" charset="0"/>
                <a:cs typeface="Times New Roman" panose="02020603050405020304" pitchFamily="18" charset="0"/>
              </a:rPr>
              <a:t>asyncio</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3931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14D3A-550B-F417-25F4-42CFC4C4BBC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Overall Progress</a:t>
            </a:r>
            <a:endParaRPr lang="en-IN"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209CE3D4-D17D-28DA-3CB4-CBFD1A4E57CA}"/>
              </a:ext>
            </a:extLst>
          </p:cNvPr>
          <p:cNvGraphicFramePr>
            <a:graphicFrameLocks noGrp="1"/>
          </p:cNvGraphicFramePr>
          <p:nvPr>
            <p:ph idx="1"/>
            <p:extLst>
              <p:ext uri="{D42A27DB-BD31-4B8C-83A1-F6EECF244321}">
                <p14:modId xmlns:p14="http://schemas.microsoft.com/office/powerpoint/2010/main" val="658426062"/>
              </p:ext>
            </p:extLst>
          </p:nvPr>
        </p:nvGraphicFramePr>
        <p:xfrm>
          <a:off x="944880" y="1545763"/>
          <a:ext cx="10342879" cy="4955647"/>
        </p:xfrm>
        <a:graphic>
          <a:graphicData uri="http://schemas.openxmlformats.org/drawingml/2006/table">
            <a:tbl>
              <a:tblPr/>
              <a:tblGrid>
                <a:gridCol w="2390227">
                  <a:extLst>
                    <a:ext uri="{9D8B030D-6E8A-4147-A177-3AD203B41FA5}">
                      <a16:colId xmlns:a16="http://schemas.microsoft.com/office/drawing/2014/main" val="4025702454"/>
                    </a:ext>
                  </a:extLst>
                </a:gridCol>
                <a:gridCol w="2650884">
                  <a:extLst>
                    <a:ext uri="{9D8B030D-6E8A-4147-A177-3AD203B41FA5}">
                      <a16:colId xmlns:a16="http://schemas.microsoft.com/office/drawing/2014/main" val="2086941444"/>
                    </a:ext>
                  </a:extLst>
                </a:gridCol>
                <a:gridCol w="2650884">
                  <a:extLst>
                    <a:ext uri="{9D8B030D-6E8A-4147-A177-3AD203B41FA5}">
                      <a16:colId xmlns:a16="http://schemas.microsoft.com/office/drawing/2014/main" val="138533785"/>
                    </a:ext>
                  </a:extLst>
                </a:gridCol>
                <a:gridCol w="2650884">
                  <a:extLst>
                    <a:ext uri="{9D8B030D-6E8A-4147-A177-3AD203B41FA5}">
                      <a16:colId xmlns:a16="http://schemas.microsoft.com/office/drawing/2014/main" val="1801213805"/>
                    </a:ext>
                  </a:extLst>
                </a:gridCol>
              </a:tblGrid>
              <a:tr h="250184">
                <a:tc>
                  <a:txBody>
                    <a:bodyPr/>
                    <a:lstStyle/>
                    <a:p>
                      <a:pPr>
                        <a:buNone/>
                      </a:pPr>
                      <a:r>
                        <a:rPr lang="en-IN" sz="1800" b="1" dirty="0">
                          <a:latin typeface="Times New Roman" panose="02020603050405020304" pitchFamily="18" charset="0"/>
                          <a:cs typeface="Times New Roman" panose="02020603050405020304" pitchFamily="18" charset="0"/>
                        </a:rPr>
                        <a:t>Layer</a:t>
                      </a:r>
                    </a:p>
                  </a:txBody>
                  <a:tcPr marL="49132" marR="49132" marT="24566" marB="24566" anchor="ctr">
                    <a:lnL>
                      <a:noFill/>
                    </a:lnL>
                    <a:lnR>
                      <a:noFill/>
                    </a:lnR>
                    <a:lnT>
                      <a:noFill/>
                    </a:lnT>
                    <a:lnB>
                      <a:noFill/>
                    </a:lnB>
                    <a:noFill/>
                  </a:tcPr>
                </a:tc>
                <a:tc>
                  <a:txBody>
                    <a:bodyPr/>
                    <a:lstStyle/>
                    <a:p>
                      <a:pPr>
                        <a:buNone/>
                      </a:pPr>
                      <a:r>
                        <a:rPr lang="en-IN" sz="1800" b="1" dirty="0">
                          <a:latin typeface="Times New Roman" panose="02020603050405020304" pitchFamily="18" charset="0"/>
                          <a:cs typeface="Times New Roman" panose="02020603050405020304" pitchFamily="18" charset="0"/>
                        </a:rPr>
                        <a:t>Component</a:t>
                      </a:r>
                    </a:p>
                  </a:txBody>
                  <a:tcPr marL="49132" marR="49132" marT="24566" marB="24566" anchor="ctr">
                    <a:lnL>
                      <a:noFill/>
                    </a:lnL>
                    <a:lnR>
                      <a:noFill/>
                    </a:lnR>
                    <a:lnT>
                      <a:noFill/>
                    </a:lnT>
                    <a:lnB>
                      <a:noFill/>
                    </a:lnB>
                    <a:noFill/>
                  </a:tcPr>
                </a:tc>
                <a:tc>
                  <a:txBody>
                    <a:bodyPr/>
                    <a:lstStyle/>
                    <a:p>
                      <a:pPr>
                        <a:buNone/>
                      </a:pPr>
                      <a:r>
                        <a:rPr lang="en-IN" sz="1800" b="1" dirty="0">
                          <a:latin typeface="Times New Roman" panose="02020603050405020304" pitchFamily="18" charset="0"/>
                          <a:cs typeface="Times New Roman" panose="02020603050405020304" pitchFamily="18" charset="0"/>
                        </a:rPr>
                        <a:t>Status</a:t>
                      </a:r>
                    </a:p>
                  </a:txBody>
                  <a:tcPr marL="49132" marR="49132" marT="24566" marB="24566" anchor="ctr">
                    <a:lnL>
                      <a:noFill/>
                    </a:lnL>
                    <a:lnR>
                      <a:noFill/>
                    </a:lnR>
                    <a:lnT>
                      <a:noFill/>
                    </a:lnT>
                    <a:lnB>
                      <a:noFill/>
                    </a:lnB>
                    <a:noFill/>
                  </a:tcPr>
                </a:tc>
                <a:tc>
                  <a:txBody>
                    <a:bodyPr/>
                    <a:lstStyle/>
                    <a:p>
                      <a:pPr>
                        <a:buNone/>
                      </a:pPr>
                      <a:r>
                        <a:rPr lang="en-IN" sz="1800" b="1" dirty="0">
                          <a:latin typeface="Times New Roman" panose="02020603050405020304" pitchFamily="18" charset="0"/>
                          <a:cs typeface="Times New Roman" panose="02020603050405020304" pitchFamily="18" charset="0"/>
                        </a:rPr>
                        <a:t>Done</a:t>
                      </a:r>
                    </a:p>
                  </a:txBody>
                  <a:tcPr marL="49132" marR="49132" marT="24566" marB="24566" anchor="ctr">
                    <a:lnL>
                      <a:noFill/>
                    </a:lnL>
                    <a:lnR>
                      <a:noFill/>
                    </a:lnR>
                    <a:lnT>
                      <a:noFill/>
                    </a:lnT>
                    <a:lnB>
                      <a:noFill/>
                    </a:lnB>
                    <a:noFill/>
                  </a:tcPr>
                </a:tc>
                <a:extLst>
                  <a:ext uri="{0D108BD9-81ED-4DB2-BD59-A6C34878D82A}">
                    <a16:rowId xmlns:a16="http://schemas.microsoft.com/office/drawing/2014/main" val="2253899426"/>
                  </a:ext>
                </a:extLst>
              </a:tr>
              <a:tr h="250184">
                <a:tc>
                  <a:txBody>
                    <a:bodyPr/>
                    <a:lstStyle/>
                    <a:p>
                      <a:pPr>
                        <a:buNone/>
                      </a:pPr>
                      <a:r>
                        <a:rPr lang="en-IN" sz="1600" dirty="0">
                          <a:latin typeface="Times New Roman" panose="02020603050405020304" pitchFamily="18" charset="0"/>
                          <a:cs typeface="Times New Roman" panose="02020603050405020304" pitchFamily="18" charset="0"/>
                        </a:rPr>
                        <a:t>Backend core</a:t>
                      </a:r>
                    </a:p>
                  </a:txBody>
                  <a:tcPr marL="49132" marR="49132" marT="24566" marB="24566" anchor="ctr">
                    <a:lnL>
                      <a:noFill/>
                    </a:lnL>
                    <a:lnR>
                      <a:noFill/>
                    </a:lnR>
                    <a:lnT>
                      <a:noFill/>
                    </a:lnT>
                    <a:lnB>
                      <a:noFill/>
                    </a:lnB>
                    <a:noFill/>
                  </a:tcPr>
                </a:tc>
                <a:tc>
                  <a:txBody>
                    <a:bodyPr/>
                    <a:lstStyle/>
                    <a:p>
                      <a:pPr>
                        <a:buNone/>
                      </a:pPr>
                      <a:r>
                        <a:rPr lang="en-IN" sz="1600" dirty="0">
                          <a:latin typeface="Times New Roman" panose="02020603050405020304" pitchFamily="18" charset="0"/>
                          <a:cs typeface="Times New Roman" panose="02020603050405020304" pitchFamily="18" charset="0"/>
                        </a:rPr>
                        <a:t>main.py</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 Real</a:t>
                      </a:r>
                    </a:p>
                  </a:txBody>
                  <a:tcPr marL="49132" marR="49132" marT="24566" marB="24566" anchor="ctr">
                    <a:lnL>
                      <a:noFill/>
                    </a:lnL>
                    <a:lnR>
                      <a:noFill/>
                    </a:lnR>
                    <a:lnT>
                      <a:noFill/>
                    </a:lnT>
                    <a:lnB>
                      <a:noFill/>
                    </a:lnB>
                    <a:noFill/>
                  </a:tcPr>
                </a:tc>
                <a:tc>
                  <a:txBody>
                    <a:bodyPr/>
                    <a:lstStyle/>
                    <a:p>
                      <a:pPr>
                        <a:buNone/>
                      </a:pPr>
                      <a:r>
                        <a:rPr lang="en-IN" sz="1600" dirty="0">
                          <a:latin typeface="Times New Roman" panose="02020603050405020304" pitchFamily="18" charset="0"/>
                          <a:cs typeface="Times New Roman" panose="02020603050405020304" pitchFamily="18" charset="0"/>
                        </a:rPr>
                        <a:t>100%</a:t>
                      </a:r>
                    </a:p>
                  </a:txBody>
                  <a:tcPr marL="49132" marR="49132" marT="24566" marB="24566" anchor="ctr">
                    <a:lnL>
                      <a:noFill/>
                    </a:lnL>
                    <a:lnR>
                      <a:noFill/>
                    </a:lnR>
                    <a:lnT>
                      <a:noFill/>
                    </a:lnT>
                    <a:lnB>
                      <a:noFill/>
                    </a:lnB>
                    <a:noFill/>
                  </a:tcPr>
                </a:tc>
                <a:extLst>
                  <a:ext uri="{0D108BD9-81ED-4DB2-BD59-A6C34878D82A}">
                    <a16:rowId xmlns:a16="http://schemas.microsoft.com/office/drawing/2014/main" val="2249076453"/>
                  </a:ext>
                </a:extLst>
              </a:tr>
              <a:tr h="326917">
                <a:tc>
                  <a:txBody>
                    <a:bodyPr/>
                    <a:lstStyle/>
                    <a:p>
                      <a:pPr>
                        <a:buNone/>
                      </a:pPr>
                      <a:r>
                        <a:rPr lang="en-IN" sz="1600">
                          <a:latin typeface="Times New Roman" panose="02020603050405020304" pitchFamily="18" charset="0"/>
                          <a:cs typeface="Times New Roman" panose="02020603050405020304" pitchFamily="18" charset="0"/>
                        </a:rPr>
                        <a:t>Backend core</a:t>
                      </a:r>
                    </a:p>
                  </a:txBody>
                  <a:tcPr marL="49132" marR="49132" marT="24566" marB="24566" anchor="ctr">
                    <a:lnL>
                      <a:noFill/>
                    </a:lnL>
                    <a:lnR>
                      <a:noFill/>
                    </a:lnR>
                    <a:lnT>
                      <a:noFill/>
                    </a:lnT>
                    <a:lnB>
                      <a:noFill/>
                    </a:lnB>
                    <a:noFill/>
                  </a:tcPr>
                </a:tc>
                <a:tc>
                  <a:txBody>
                    <a:bodyPr/>
                    <a:lstStyle/>
                    <a:p>
                      <a:pPr>
                        <a:buNone/>
                      </a:pPr>
                      <a:r>
                        <a:rPr lang="en-IN" sz="1600" dirty="0">
                          <a:latin typeface="Times New Roman" panose="02020603050405020304" pitchFamily="18" charset="0"/>
                          <a:cs typeface="Times New Roman" panose="02020603050405020304" pitchFamily="18" charset="0"/>
                        </a:rPr>
                        <a:t>trading_engine.py</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 Real</a:t>
                      </a:r>
                    </a:p>
                  </a:txBody>
                  <a:tcPr marL="49132" marR="49132" marT="24566" marB="24566" anchor="ctr">
                    <a:lnL>
                      <a:noFill/>
                    </a:lnL>
                    <a:lnR>
                      <a:noFill/>
                    </a:lnR>
                    <a:lnT>
                      <a:noFill/>
                    </a:lnT>
                    <a:lnB>
                      <a:noFill/>
                    </a:lnB>
                    <a:noFill/>
                  </a:tcPr>
                </a:tc>
                <a:tc>
                  <a:txBody>
                    <a:bodyPr/>
                    <a:lstStyle/>
                    <a:p>
                      <a:pPr>
                        <a:buNone/>
                      </a:pPr>
                      <a:r>
                        <a:rPr lang="en-IN" sz="1600" dirty="0">
                          <a:latin typeface="Times New Roman" panose="02020603050405020304" pitchFamily="18" charset="0"/>
                          <a:cs typeface="Times New Roman" panose="02020603050405020304" pitchFamily="18" charset="0"/>
                        </a:rPr>
                        <a:t>95%</a:t>
                      </a:r>
                    </a:p>
                  </a:txBody>
                  <a:tcPr marL="49132" marR="49132" marT="24566" marB="24566" anchor="ctr">
                    <a:lnL>
                      <a:noFill/>
                    </a:lnL>
                    <a:lnR>
                      <a:noFill/>
                    </a:lnR>
                    <a:lnT>
                      <a:noFill/>
                    </a:lnT>
                    <a:lnB>
                      <a:noFill/>
                    </a:lnB>
                    <a:noFill/>
                  </a:tcPr>
                </a:tc>
                <a:extLst>
                  <a:ext uri="{0D108BD9-81ED-4DB2-BD59-A6C34878D82A}">
                    <a16:rowId xmlns:a16="http://schemas.microsoft.com/office/drawing/2014/main" val="3159694158"/>
                  </a:ext>
                </a:extLst>
              </a:tr>
              <a:tr h="326917">
                <a:tc>
                  <a:txBody>
                    <a:bodyPr/>
                    <a:lstStyle/>
                    <a:p>
                      <a:pPr>
                        <a:buNone/>
                      </a:pPr>
                      <a:r>
                        <a:rPr lang="en-IN" sz="1600">
                          <a:latin typeface="Times New Roman" panose="02020603050405020304" pitchFamily="18" charset="0"/>
                          <a:cs typeface="Times New Roman" panose="02020603050405020304" pitchFamily="18" charset="0"/>
                        </a:rPr>
                        <a:t>Backend core</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context_assembler.py</a:t>
                      </a:r>
                    </a:p>
                  </a:txBody>
                  <a:tcPr marL="49132" marR="49132" marT="24566" marB="24566" anchor="ctr">
                    <a:lnL>
                      <a:noFill/>
                    </a:lnL>
                    <a:lnR>
                      <a:noFill/>
                    </a:lnR>
                    <a:lnT>
                      <a:noFill/>
                    </a:lnT>
                    <a:lnB>
                      <a:noFill/>
                    </a:lnB>
                    <a:noFill/>
                  </a:tcPr>
                </a:tc>
                <a:tc>
                  <a:txBody>
                    <a:bodyPr/>
                    <a:lstStyle/>
                    <a:p>
                      <a:pPr>
                        <a:buNone/>
                      </a:pPr>
                      <a:r>
                        <a:rPr lang="en-IN" sz="1600" dirty="0">
                          <a:latin typeface="Times New Roman" panose="02020603050405020304" pitchFamily="18" charset="0"/>
                          <a:cs typeface="Times New Roman" panose="02020603050405020304" pitchFamily="18" charset="0"/>
                        </a:rPr>
                        <a:t>✅ Real</a:t>
                      </a:r>
                    </a:p>
                  </a:txBody>
                  <a:tcPr marL="49132" marR="49132" marT="24566" marB="24566" anchor="ctr">
                    <a:lnL>
                      <a:noFill/>
                    </a:lnL>
                    <a:lnR>
                      <a:noFill/>
                    </a:lnR>
                    <a:lnT>
                      <a:noFill/>
                    </a:lnT>
                    <a:lnB>
                      <a:noFill/>
                    </a:lnB>
                    <a:noFill/>
                  </a:tcPr>
                </a:tc>
                <a:tc>
                  <a:txBody>
                    <a:bodyPr/>
                    <a:lstStyle/>
                    <a:p>
                      <a:pPr>
                        <a:buNone/>
                      </a:pPr>
                      <a:r>
                        <a:rPr lang="en-IN" sz="1600" dirty="0">
                          <a:latin typeface="Times New Roman" panose="02020603050405020304" pitchFamily="18" charset="0"/>
                          <a:cs typeface="Times New Roman" panose="02020603050405020304" pitchFamily="18" charset="0"/>
                        </a:rPr>
                        <a:t>80%</a:t>
                      </a:r>
                    </a:p>
                  </a:txBody>
                  <a:tcPr marL="49132" marR="49132" marT="24566" marB="24566" anchor="ctr">
                    <a:lnL>
                      <a:noFill/>
                    </a:lnL>
                    <a:lnR>
                      <a:noFill/>
                    </a:lnR>
                    <a:lnT>
                      <a:noFill/>
                    </a:lnT>
                    <a:lnB>
                      <a:noFill/>
                    </a:lnB>
                    <a:noFill/>
                  </a:tcPr>
                </a:tc>
                <a:extLst>
                  <a:ext uri="{0D108BD9-81ED-4DB2-BD59-A6C34878D82A}">
                    <a16:rowId xmlns:a16="http://schemas.microsoft.com/office/drawing/2014/main" val="2314678566"/>
                  </a:ext>
                </a:extLst>
              </a:tr>
              <a:tr h="326917">
                <a:tc>
                  <a:txBody>
                    <a:bodyPr/>
                    <a:lstStyle/>
                    <a:p>
                      <a:pPr>
                        <a:buNone/>
                      </a:pPr>
                      <a:r>
                        <a:rPr lang="en-IN" sz="1600">
                          <a:latin typeface="Times New Roman" panose="02020603050405020304" pitchFamily="18" charset="0"/>
                          <a:cs typeface="Times New Roman" panose="02020603050405020304" pitchFamily="18" charset="0"/>
                        </a:rPr>
                        <a:t>Backend core</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orchestrator.py</a:t>
                      </a:r>
                    </a:p>
                  </a:txBody>
                  <a:tcPr marL="49132" marR="49132" marT="24566" marB="24566" anchor="ctr">
                    <a:lnL>
                      <a:noFill/>
                    </a:lnL>
                    <a:lnR>
                      <a:noFill/>
                    </a:lnR>
                    <a:lnT>
                      <a:noFill/>
                    </a:lnT>
                    <a:lnB>
                      <a:noFill/>
                    </a:lnB>
                    <a:noFill/>
                  </a:tcPr>
                </a:tc>
                <a:tc>
                  <a:txBody>
                    <a:bodyPr/>
                    <a:lstStyle/>
                    <a:p>
                      <a:pPr>
                        <a:buNone/>
                      </a:pPr>
                      <a:r>
                        <a:rPr lang="en-IN" sz="1600" dirty="0">
                          <a:latin typeface="Times New Roman" panose="02020603050405020304" pitchFamily="18" charset="0"/>
                          <a:cs typeface="Times New Roman" panose="02020603050405020304" pitchFamily="18" charset="0"/>
                        </a:rPr>
                        <a:t>✅ Real</a:t>
                      </a:r>
                    </a:p>
                  </a:txBody>
                  <a:tcPr marL="49132" marR="49132" marT="24566" marB="24566" anchor="ctr">
                    <a:lnL>
                      <a:noFill/>
                    </a:lnL>
                    <a:lnR>
                      <a:noFill/>
                    </a:lnR>
                    <a:lnT>
                      <a:noFill/>
                    </a:lnT>
                    <a:lnB>
                      <a:noFill/>
                    </a:lnB>
                    <a:noFill/>
                  </a:tcPr>
                </a:tc>
                <a:tc>
                  <a:txBody>
                    <a:bodyPr/>
                    <a:lstStyle/>
                    <a:p>
                      <a:pPr>
                        <a:buNone/>
                      </a:pPr>
                      <a:r>
                        <a:rPr lang="en-IN" sz="1600" dirty="0">
                          <a:latin typeface="Times New Roman" panose="02020603050405020304" pitchFamily="18" charset="0"/>
                          <a:cs typeface="Times New Roman" panose="02020603050405020304" pitchFamily="18" charset="0"/>
                        </a:rPr>
                        <a:t>85%</a:t>
                      </a:r>
                    </a:p>
                  </a:txBody>
                  <a:tcPr marL="49132" marR="49132" marT="24566" marB="24566" anchor="ctr">
                    <a:lnL>
                      <a:noFill/>
                    </a:lnL>
                    <a:lnR>
                      <a:noFill/>
                    </a:lnR>
                    <a:lnT>
                      <a:noFill/>
                    </a:lnT>
                    <a:lnB>
                      <a:noFill/>
                    </a:lnB>
                    <a:noFill/>
                  </a:tcPr>
                </a:tc>
                <a:extLst>
                  <a:ext uri="{0D108BD9-81ED-4DB2-BD59-A6C34878D82A}">
                    <a16:rowId xmlns:a16="http://schemas.microsoft.com/office/drawing/2014/main" val="1068206939"/>
                  </a:ext>
                </a:extLst>
              </a:tr>
              <a:tr h="326917">
                <a:tc>
                  <a:txBody>
                    <a:bodyPr/>
                    <a:lstStyle/>
                    <a:p>
                      <a:pPr>
                        <a:buNone/>
                      </a:pPr>
                      <a:r>
                        <a:rPr lang="en-IN" sz="1600">
                          <a:latin typeface="Times New Roman" panose="02020603050405020304" pitchFamily="18" charset="0"/>
                          <a:cs typeface="Times New Roman" panose="02020603050405020304" pitchFamily="18" charset="0"/>
                        </a:rPr>
                        <a:t>Config</a:t>
                      </a:r>
                    </a:p>
                  </a:txBody>
                  <a:tcPr marL="49132" marR="49132" marT="24566" marB="24566" anchor="ctr">
                    <a:lnL>
                      <a:noFill/>
                    </a:lnL>
                    <a:lnR>
                      <a:noFill/>
                    </a:lnR>
                    <a:lnT>
                      <a:noFill/>
                    </a:lnT>
                    <a:lnB>
                      <a:noFill/>
                    </a:lnB>
                    <a:noFill/>
                  </a:tcPr>
                </a:tc>
                <a:tc>
                  <a:txBody>
                    <a:bodyPr/>
                    <a:lstStyle/>
                    <a:p>
                      <a:pPr>
                        <a:buNone/>
                      </a:pPr>
                      <a:r>
                        <a:rPr lang="en-IN" sz="1600" dirty="0">
                          <a:latin typeface="Times New Roman" panose="02020603050405020304" pitchFamily="18" charset="0"/>
                          <a:cs typeface="Times New Roman" panose="02020603050405020304" pitchFamily="18" charset="0"/>
                        </a:rPr>
                        <a:t>requirements.txt</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 Real</a:t>
                      </a:r>
                    </a:p>
                  </a:txBody>
                  <a:tcPr marL="49132" marR="49132" marT="24566" marB="24566" anchor="ctr">
                    <a:lnL>
                      <a:noFill/>
                    </a:lnL>
                    <a:lnR>
                      <a:noFill/>
                    </a:lnR>
                    <a:lnT>
                      <a:noFill/>
                    </a:lnT>
                    <a:lnB>
                      <a:noFill/>
                    </a:lnB>
                    <a:noFill/>
                  </a:tcPr>
                </a:tc>
                <a:tc>
                  <a:txBody>
                    <a:bodyPr/>
                    <a:lstStyle/>
                    <a:p>
                      <a:pPr>
                        <a:buNone/>
                      </a:pPr>
                      <a:r>
                        <a:rPr lang="en-IN" sz="1600" dirty="0">
                          <a:latin typeface="Times New Roman" panose="02020603050405020304" pitchFamily="18" charset="0"/>
                          <a:cs typeface="Times New Roman" panose="02020603050405020304" pitchFamily="18" charset="0"/>
                        </a:rPr>
                        <a:t>100%</a:t>
                      </a:r>
                    </a:p>
                  </a:txBody>
                  <a:tcPr marL="49132" marR="49132" marT="24566" marB="24566" anchor="ctr">
                    <a:lnL>
                      <a:noFill/>
                    </a:lnL>
                    <a:lnR>
                      <a:noFill/>
                    </a:lnR>
                    <a:lnT>
                      <a:noFill/>
                    </a:lnT>
                    <a:lnB>
                      <a:noFill/>
                    </a:lnB>
                    <a:noFill/>
                  </a:tcPr>
                </a:tc>
                <a:extLst>
                  <a:ext uri="{0D108BD9-81ED-4DB2-BD59-A6C34878D82A}">
                    <a16:rowId xmlns:a16="http://schemas.microsoft.com/office/drawing/2014/main" val="3320280196"/>
                  </a:ext>
                </a:extLst>
              </a:tr>
              <a:tr h="250184">
                <a:tc>
                  <a:txBody>
                    <a:bodyPr/>
                    <a:lstStyle/>
                    <a:p>
                      <a:pPr>
                        <a:buNone/>
                      </a:pPr>
                      <a:r>
                        <a:rPr lang="en-IN" sz="1600">
                          <a:latin typeface="Times New Roman" panose="02020603050405020304" pitchFamily="18" charset="0"/>
                          <a:cs typeface="Times New Roman" panose="02020603050405020304" pitchFamily="18" charset="0"/>
                        </a:rPr>
                        <a:t>Config</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.env</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 Keys missing</a:t>
                      </a:r>
                    </a:p>
                  </a:txBody>
                  <a:tcPr marL="49132" marR="49132" marT="24566" marB="24566" anchor="ctr">
                    <a:lnL>
                      <a:noFill/>
                    </a:lnL>
                    <a:lnR>
                      <a:noFill/>
                    </a:lnR>
                    <a:lnT>
                      <a:noFill/>
                    </a:lnT>
                    <a:lnB>
                      <a:noFill/>
                    </a:lnB>
                    <a:noFill/>
                  </a:tcPr>
                </a:tc>
                <a:tc>
                  <a:txBody>
                    <a:bodyPr/>
                    <a:lstStyle/>
                    <a:p>
                      <a:pPr>
                        <a:buNone/>
                      </a:pPr>
                      <a:r>
                        <a:rPr lang="en-IN" sz="1600" dirty="0">
                          <a:latin typeface="Times New Roman" panose="02020603050405020304" pitchFamily="18" charset="0"/>
                          <a:cs typeface="Times New Roman" panose="02020603050405020304" pitchFamily="18" charset="0"/>
                        </a:rPr>
                        <a:t>20%</a:t>
                      </a:r>
                    </a:p>
                  </a:txBody>
                  <a:tcPr marL="49132" marR="49132" marT="24566" marB="24566" anchor="ctr">
                    <a:lnL>
                      <a:noFill/>
                    </a:lnL>
                    <a:lnR>
                      <a:noFill/>
                    </a:lnR>
                    <a:lnT>
                      <a:noFill/>
                    </a:lnT>
                    <a:lnB>
                      <a:noFill/>
                    </a:lnB>
                    <a:noFill/>
                  </a:tcPr>
                </a:tc>
                <a:extLst>
                  <a:ext uri="{0D108BD9-81ED-4DB2-BD59-A6C34878D82A}">
                    <a16:rowId xmlns:a16="http://schemas.microsoft.com/office/drawing/2014/main" val="1567502014"/>
                  </a:ext>
                </a:extLst>
              </a:tr>
              <a:tr h="250184">
                <a:tc>
                  <a:txBody>
                    <a:bodyPr/>
                    <a:lstStyle/>
                    <a:p>
                      <a:pPr>
                        <a:buNone/>
                      </a:pPr>
                      <a:r>
                        <a:rPr lang="en-IN" sz="1600">
                          <a:latin typeface="Times New Roman" panose="02020603050405020304" pitchFamily="18" charset="0"/>
                          <a:cs typeface="Times New Roman" panose="02020603050405020304" pitchFamily="18" charset="0"/>
                        </a:rPr>
                        <a:t>Services</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gemini.py</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 Unknown</a:t>
                      </a:r>
                    </a:p>
                  </a:txBody>
                  <a:tcPr marL="49132" marR="49132" marT="24566" marB="24566" anchor="ctr">
                    <a:lnL>
                      <a:noFill/>
                    </a:lnL>
                    <a:lnR>
                      <a:noFill/>
                    </a:lnR>
                    <a:lnT>
                      <a:noFill/>
                    </a:lnT>
                    <a:lnB>
                      <a:noFill/>
                    </a:lnB>
                    <a:noFill/>
                  </a:tcPr>
                </a:tc>
                <a:tc>
                  <a:txBody>
                    <a:bodyPr/>
                    <a:lstStyle/>
                    <a:p>
                      <a:pPr>
                        <a:buNone/>
                      </a:pPr>
                      <a:r>
                        <a:rPr lang="en-IN" sz="1600" dirty="0">
                          <a:latin typeface="Times New Roman" panose="02020603050405020304" pitchFamily="18" charset="0"/>
                          <a:cs typeface="Times New Roman" panose="02020603050405020304" pitchFamily="18" charset="0"/>
                        </a:rPr>
                        <a:t>?</a:t>
                      </a:r>
                    </a:p>
                  </a:txBody>
                  <a:tcPr marL="49132" marR="49132" marT="24566" marB="24566" anchor="ctr">
                    <a:lnL>
                      <a:noFill/>
                    </a:lnL>
                    <a:lnR>
                      <a:noFill/>
                    </a:lnR>
                    <a:lnT>
                      <a:noFill/>
                    </a:lnT>
                    <a:lnB>
                      <a:noFill/>
                    </a:lnB>
                    <a:noFill/>
                  </a:tcPr>
                </a:tc>
                <a:extLst>
                  <a:ext uri="{0D108BD9-81ED-4DB2-BD59-A6C34878D82A}">
                    <a16:rowId xmlns:a16="http://schemas.microsoft.com/office/drawing/2014/main" val="456938120"/>
                  </a:ext>
                </a:extLst>
              </a:tr>
              <a:tr h="326917">
                <a:tc>
                  <a:txBody>
                    <a:bodyPr/>
                    <a:lstStyle/>
                    <a:p>
                      <a:pPr>
                        <a:buNone/>
                      </a:pPr>
                      <a:r>
                        <a:rPr lang="en-IN" sz="1600">
                          <a:latin typeface="Times New Roman" panose="02020603050405020304" pitchFamily="18" charset="0"/>
                          <a:cs typeface="Times New Roman" panose="02020603050405020304" pitchFamily="18" charset="0"/>
                        </a:rPr>
                        <a:t>Services</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market_data.py</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 Unknown</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a:t>
                      </a:r>
                    </a:p>
                  </a:txBody>
                  <a:tcPr marL="49132" marR="49132" marT="24566" marB="24566" anchor="ctr">
                    <a:lnL>
                      <a:noFill/>
                    </a:lnL>
                    <a:lnR>
                      <a:noFill/>
                    </a:lnR>
                    <a:lnT>
                      <a:noFill/>
                    </a:lnT>
                    <a:lnB>
                      <a:noFill/>
                    </a:lnB>
                    <a:noFill/>
                  </a:tcPr>
                </a:tc>
                <a:extLst>
                  <a:ext uri="{0D108BD9-81ED-4DB2-BD59-A6C34878D82A}">
                    <a16:rowId xmlns:a16="http://schemas.microsoft.com/office/drawing/2014/main" val="3902996796"/>
                  </a:ext>
                </a:extLst>
              </a:tr>
              <a:tr h="250184">
                <a:tc>
                  <a:txBody>
                    <a:bodyPr/>
                    <a:lstStyle/>
                    <a:p>
                      <a:pPr>
                        <a:buNone/>
                      </a:pPr>
                      <a:r>
                        <a:rPr lang="en-IN" sz="1600">
                          <a:latin typeface="Times New Roman" panose="02020603050405020304" pitchFamily="18" charset="0"/>
                          <a:cs typeface="Times New Roman" panose="02020603050405020304" pitchFamily="18" charset="0"/>
                        </a:rPr>
                        <a:t>Services</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sentiment.py</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 Unknown</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a:t>
                      </a:r>
                    </a:p>
                  </a:txBody>
                  <a:tcPr marL="49132" marR="49132" marT="24566" marB="24566" anchor="ctr">
                    <a:lnL>
                      <a:noFill/>
                    </a:lnL>
                    <a:lnR>
                      <a:noFill/>
                    </a:lnR>
                    <a:lnT>
                      <a:noFill/>
                    </a:lnT>
                    <a:lnB>
                      <a:noFill/>
                    </a:lnB>
                    <a:noFill/>
                  </a:tcPr>
                </a:tc>
                <a:extLst>
                  <a:ext uri="{0D108BD9-81ED-4DB2-BD59-A6C34878D82A}">
                    <a16:rowId xmlns:a16="http://schemas.microsoft.com/office/drawing/2014/main" val="745922022"/>
                  </a:ext>
                </a:extLst>
              </a:tr>
              <a:tr h="326917">
                <a:tc>
                  <a:txBody>
                    <a:bodyPr/>
                    <a:lstStyle/>
                    <a:p>
                      <a:pPr>
                        <a:buNone/>
                      </a:pPr>
                      <a:r>
                        <a:rPr lang="en-IN" sz="1600">
                          <a:latin typeface="Times New Roman" panose="02020603050405020304" pitchFamily="18" charset="0"/>
                          <a:cs typeface="Times New Roman" panose="02020603050405020304" pitchFamily="18" charset="0"/>
                        </a:rPr>
                        <a:t>Services</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signals_engine.py</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 Unknown</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a:t>
                      </a:r>
                    </a:p>
                  </a:txBody>
                  <a:tcPr marL="49132" marR="49132" marT="24566" marB="24566" anchor="ctr">
                    <a:lnL>
                      <a:noFill/>
                    </a:lnL>
                    <a:lnR>
                      <a:noFill/>
                    </a:lnR>
                    <a:lnT>
                      <a:noFill/>
                    </a:lnT>
                    <a:lnB>
                      <a:noFill/>
                    </a:lnB>
                    <a:noFill/>
                  </a:tcPr>
                </a:tc>
                <a:extLst>
                  <a:ext uri="{0D108BD9-81ED-4DB2-BD59-A6C34878D82A}">
                    <a16:rowId xmlns:a16="http://schemas.microsoft.com/office/drawing/2014/main" val="685174446"/>
                  </a:ext>
                </a:extLst>
              </a:tr>
              <a:tr h="326917">
                <a:tc>
                  <a:txBody>
                    <a:bodyPr/>
                    <a:lstStyle/>
                    <a:p>
                      <a:pPr>
                        <a:buNone/>
                      </a:pPr>
                      <a:r>
                        <a:rPr lang="en-IN" sz="1600">
                          <a:latin typeface="Times New Roman" panose="02020603050405020304" pitchFamily="18" charset="0"/>
                          <a:cs typeface="Times New Roman" panose="02020603050405020304" pitchFamily="18" charset="0"/>
                        </a:rPr>
                        <a:t>Services</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ipo_tracker.py</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 Unknown</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a:t>
                      </a:r>
                    </a:p>
                  </a:txBody>
                  <a:tcPr marL="49132" marR="49132" marT="24566" marB="24566" anchor="ctr">
                    <a:lnL>
                      <a:noFill/>
                    </a:lnL>
                    <a:lnR>
                      <a:noFill/>
                    </a:lnR>
                    <a:lnT>
                      <a:noFill/>
                    </a:lnT>
                    <a:lnB>
                      <a:noFill/>
                    </a:lnB>
                    <a:noFill/>
                  </a:tcPr>
                </a:tc>
                <a:extLst>
                  <a:ext uri="{0D108BD9-81ED-4DB2-BD59-A6C34878D82A}">
                    <a16:rowId xmlns:a16="http://schemas.microsoft.com/office/drawing/2014/main" val="3191608643"/>
                  </a:ext>
                </a:extLst>
              </a:tr>
              <a:tr h="250184">
                <a:tc>
                  <a:txBody>
                    <a:bodyPr/>
                    <a:lstStyle/>
                    <a:p>
                      <a:pPr>
                        <a:buNone/>
                      </a:pPr>
                      <a:r>
                        <a:rPr lang="en-IN" sz="1600">
                          <a:latin typeface="Times New Roman" panose="02020603050405020304" pitchFamily="18" charset="0"/>
                          <a:cs typeface="Times New Roman" panose="02020603050405020304" pitchFamily="18" charset="0"/>
                        </a:rPr>
                        <a:t>Services</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rag.py</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 Unknown</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a:t>
                      </a:r>
                    </a:p>
                  </a:txBody>
                  <a:tcPr marL="49132" marR="49132" marT="24566" marB="24566" anchor="ctr">
                    <a:lnL>
                      <a:noFill/>
                    </a:lnL>
                    <a:lnR>
                      <a:noFill/>
                    </a:lnR>
                    <a:lnT>
                      <a:noFill/>
                    </a:lnT>
                    <a:lnB>
                      <a:noFill/>
                    </a:lnB>
                    <a:noFill/>
                  </a:tcPr>
                </a:tc>
                <a:extLst>
                  <a:ext uri="{0D108BD9-81ED-4DB2-BD59-A6C34878D82A}">
                    <a16:rowId xmlns:a16="http://schemas.microsoft.com/office/drawing/2014/main" val="3836584885"/>
                  </a:ext>
                </a:extLst>
              </a:tr>
              <a:tr h="250184">
                <a:tc>
                  <a:txBody>
                    <a:bodyPr/>
                    <a:lstStyle/>
                    <a:p>
                      <a:pPr>
                        <a:buNone/>
                      </a:pPr>
                      <a:r>
                        <a:rPr lang="en-IN" sz="1600">
                          <a:latin typeface="Times New Roman" panose="02020603050405020304" pitchFamily="18" charset="0"/>
                          <a:cs typeface="Times New Roman" panose="02020603050405020304" pitchFamily="18" charset="0"/>
                        </a:rPr>
                        <a:t>Data</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ChromaDB corpus</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 Empty</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0%</a:t>
                      </a:r>
                    </a:p>
                  </a:txBody>
                  <a:tcPr marL="49132" marR="49132" marT="24566" marB="24566" anchor="ctr">
                    <a:lnL>
                      <a:noFill/>
                    </a:lnL>
                    <a:lnR>
                      <a:noFill/>
                    </a:lnR>
                    <a:lnT>
                      <a:noFill/>
                    </a:lnT>
                    <a:lnB>
                      <a:noFill/>
                    </a:lnB>
                    <a:noFill/>
                  </a:tcPr>
                </a:tc>
                <a:extLst>
                  <a:ext uri="{0D108BD9-81ED-4DB2-BD59-A6C34878D82A}">
                    <a16:rowId xmlns:a16="http://schemas.microsoft.com/office/drawing/2014/main" val="4123279507"/>
                  </a:ext>
                </a:extLst>
              </a:tr>
              <a:tr h="250184">
                <a:tc>
                  <a:txBody>
                    <a:bodyPr/>
                    <a:lstStyle/>
                    <a:p>
                      <a:pPr>
                        <a:buNone/>
                      </a:pPr>
                      <a:r>
                        <a:rPr lang="en-IN" sz="1600">
                          <a:latin typeface="Times New Roman" panose="02020603050405020304" pitchFamily="18" charset="0"/>
                          <a:cs typeface="Times New Roman" panose="02020603050405020304" pitchFamily="18" charset="0"/>
                        </a:rPr>
                        <a:t>Frontend</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React UI</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 Streaming bug</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60%</a:t>
                      </a:r>
                    </a:p>
                  </a:txBody>
                  <a:tcPr marL="49132" marR="49132" marT="24566" marB="24566" anchor="ctr">
                    <a:lnL>
                      <a:noFill/>
                    </a:lnL>
                    <a:lnR>
                      <a:noFill/>
                    </a:lnR>
                    <a:lnT>
                      <a:noFill/>
                    </a:lnT>
                    <a:lnB>
                      <a:noFill/>
                    </a:lnB>
                    <a:noFill/>
                  </a:tcPr>
                </a:tc>
                <a:extLst>
                  <a:ext uri="{0D108BD9-81ED-4DB2-BD59-A6C34878D82A}">
                    <a16:rowId xmlns:a16="http://schemas.microsoft.com/office/drawing/2014/main" val="1478295449"/>
                  </a:ext>
                </a:extLst>
              </a:tr>
              <a:tr h="250184">
                <a:tc>
                  <a:txBody>
                    <a:bodyPr/>
                    <a:lstStyle/>
                    <a:p>
                      <a:pPr>
                        <a:buNone/>
                      </a:pPr>
                      <a:r>
                        <a:rPr lang="en-IN" sz="1600">
                          <a:latin typeface="Times New Roman" panose="02020603050405020304" pitchFamily="18" charset="0"/>
                          <a:cs typeface="Times New Roman" panose="02020603050405020304" pitchFamily="18" charset="0"/>
                        </a:rPr>
                        <a:t>Routers</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All 6 routers</a:t>
                      </a:r>
                    </a:p>
                  </a:txBody>
                  <a:tcPr marL="49132" marR="49132" marT="24566" marB="24566"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 Unknown</a:t>
                      </a:r>
                    </a:p>
                  </a:txBody>
                  <a:tcPr marL="49132" marR="49132" marT="24566" marB="24566" anchor="ctr">
                    <a:lnL>
                      <a:noFill/>
                    </a:lnL>
                    <a:lnR>
                      <a:noFill/>
                    </a:lnR>
                    <a:lnT>
                      <a:noFill/>
                    </a:lnT>
                    <a:lnB>
                      <a:noFill/>
                    </a:lnB>
                    <a:noFill/>
                  </a:tcPr>
                </a:tc>
                <a:tc>
                  <a:txBody>
                    <a:bodyPr/>
                    <a:lstStyle/>
                    <a:p>
                      <a:pPr>
                        <a:buNone/>
                      </a:pPr>
                      <a:r>
                        <a:rPr lang="en-IN" sz="1600" dirty="0">
                          <a:latin typeface="Times New Roman" panose="02020603050405020304" pitchFamily="18" charset="0"/>
                          <a:cs typeface="Times New Roman" panose="02020603050405020304" pitchFamily="18" charset="0"/>
                        </a:rPr>
                        <a:t>?</a:t>
                      </a:r>
                    </a:p>
                  </a:txBody>
                  <a:tcPr marL="49132" marR="49132" marT="24566" marB="24566" anchor="ctr">
                    <a:lnL>
                      <a:noFill/>
                    </a:lnL>
                    <a:lnR>
                      <a:noFill/>
                    </a:lnR>
                    <a:lnT>
                      <a:noFill/>
                    </a:lnT>
                    <a:lnB>
                      <a:noFill/>
                    </a:lnB>
                    <a:noFill/>
                  </a:tcPr>
                </a:tc>
                <a:extLst>
                  <a:ext uri="{0D108BD9-81ED-4DB2-BD59-A6C34878D82A}">
                    <a16:rowId xmlns:a16="http://schemas.microsoft.com/office/drawing/2014/main" val="1181160287"/>
                  </a:ext>
                </a:extLst>
              </a:tr>
            </a:tbl>
          </a:graphicData>
        </a:graphic>
      </p:graphicFrame>
    </p:spTree>
    <p:extLst>
      <p:ext uri="{BB962C8B-B14F-4D97-AF65-F5344CB8AC3E}">
        <p14:creationId xmlns:p14="http://schemas.microsoft.com/office/powerpoint/2010/main" val="370544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78CB3-9364-5483-01A1-0EA271F50A5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Snapshots</a:t>
            </a:r>
            <a:endParaRPr lang="en-IN" dirty="0">
              <a:latin typeface="Times New Roman" panose="02020603050405020304" pitchFamily="18" charset="0"/>
              <a:cs typeface="Times New Roman" panose="02020603050405020304" pitchFamily="18" charset="0"/>
            </a:endParaRPr>
          </a:p>
        </p:txBody>
      </p:sp>
      <p:pic>
        <p:nvPicPr>
          <p:cNvPr id="9" name="Content Placeholder 8">
            <a:extLst>
              <a:ext uri="{FF2B5EF4-FFF2-40B4-BE49-F238E27FC236}">
                <a16:creationId xmlns:a16="http://schemas.microsoft.com/office/drawing/2014/main" id="{AE4BB02B-A52B-9915-624C-11262F0C94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3440" y="1686560"/>
            <a:ext cx="8769339" cy="4355465"/>
          </a:xfrm>
          <a:prstGeom prst="rect">
            <a:avLst/>
          </a:prstGeom>
        </p:spPr>
      </p:pic>
    </p:spTree>
    <p:extLst>
      <p:ext uri="{BB962C8B-B14F-4D97-AF65-F5344CB8AC3E}">
        <p14:creationId xmlns:p14="http://schemas.microsoft.com/office/powerpoint/2010/main" val="1471352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33B5D-0F55-8FCF-60D8-9F50928011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83C51A-1BA4-0CB0-FFA7-B1F94E222DF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Snapshots</a:t>
            </a:r>
            <a:endParaRPr lang="en-IN"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B33BB1DD-DDE8-86AA-E688-B8B770F097A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21832" y="1727200"/>
            <a:ext cx="9036568" cy="4314825"/>
          </a:xfrm>
          <a:prstGeom prst="rect">
            <a:avLst/>
          </a:prstGeom>
        </p:spPr>
      </p:pic>
    </p:spTree>
    <p:extLst>
      <p:ext uri="{BB962C8B-B14F-4D97-AF65-F5344CB8AC3E}">
        <p14:creationId xmlns:p14="http://schemas.microsoft.com/office/powerpoint/2010/main" val="610248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CF30A-AC24-B846-8FE8-014B050E87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6F87EB-79CC-F641-1A0E-644D7AA2B16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Snapshots</a:t>
            </a:r>
            <a:endParaRPr lang="en-IN"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E15261E1-D13D-A972-A800-A575FEBD6A8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3182" y="1564640"/>
            <a:ext cx="9431297" cy="4477385"/>
          </a:xfrm>
          <a:prstGeom prst="rect">
            <a:avLst/>
          </a:prstGeom>
        </p:spPr>
      </p:pic>
    </p:spTree>
    <p:extLst>
      <p:ext uri="{BB962C8B-B14F-4D97-AF65-F5344CB8AC3E}">
        <p14:creationId xmlns:p14="http://schemas.microsoft.com/office/powerpoint/2010/main" val="1714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FA5D6-2268-380F-122B-DDDF1C7EEA5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211F119-D91E-95B2-CEBB-22F0C185C5CD}"/>
              </a:ext>
            </a:extLst>
          </p:cNvPr>
          <p:cNvSpPr>
            <a:spLocks noGrp="1"/>
          </p:cNvSpPr>
          <p:nvPr>
            <p:ph idx="1"/>
          </p:nvPr>
        </p:nvSpPr>
        <p:spPr>
          <a:xfrm>
            <a:off x="677334" y="1307691"/>
            <a:ext cx="8596668" cy="4733672"/>
          </a:xfrm>
        </p:spPr>
        <p:txBody>
          <a:bodyPr>
            <a:normAutofit/>
          </a:bodyPr>
          <a:lstStyle/>
          <a:p>
            <a:r>
              <a:rPr lang="en-US" dirty="0" err="1">
                <a:latin typeface="Times New Roman" panose="02020603050405020304" pitchFamily="18" charset="0"/>
                <a:cs typeface="Times New Roman" panose="02020603050405020304" pitchFamily="18" charset="0"/>
              </a:rPr>
              <a:t>FinSight</a:t>
            </a:r>
            <a:r>
              <a:rPr lang="en-US" dirty="0">
                <a:latin typeface="Times New Roman" panose="02020603050405020304" pitchFamily="18" charset="0"/>
                <a:cs typeface="Times New Roman" panose="02020603050405020304" pitchFamily="18" charset="0"/>
              </a:rPr>
              <a:t> AI presents a </a:t>
            </a:r>
            <a:r>
              <a:rPr lang="en-US" b="1" dirty="0">
                <a:latin typeface="Times New Roman" panose="02020603050405020304" pitchFamily="18" charset="0"/>
                <a:cs typeface="Times New Roman" panose="02020603050405020304" pitchFamily="18" charset="0"/>
              </a:rPr>
              <a:t>web-based AI financial assistant</a:t>
            </a:r>
            <a:r>
              <a:rPr lang="en-US" dirty="0">
                <a:latin typeface="Times New Roman" panose="02020603050405020304" pitchFamily="18" charset="0"/>
                <a:cs typeface="Times New Roman" panose="02020603050405020304" pitchFamily="18" charset="0"/>
              </a:rPr>
              <a:t> that simplifies stock market analysis for retail investors through a conversational interface. </a:t>
            </a:r>
          </a:p>
          <a:p>
            <a:r>
              <a:rPr lang="en-US" dirty="0">
                <a:latin typeface="Times New Roman" panose="02020603050405020304" pitchFamily="18" charset="0"/>
                <a:cs typeface="Times New Roman" panose="02020603050405020304" pitchFamily="18" charset="0"/>
              </a:rPr>
              <a:t>The system successfully integrates </a:t>
            </a:r>
            <a:r>
              <a:rPr lang="en-US" b="1" dirty="0">
                <a:latin typeface="Times New Roman" panose="02020603050405020304" pitchFamily="18" charset="0"/>
                <a:cs typeface="Times New Roman" panose="02020603050405020304" pitchFamily="18" charset="0"/>
              </a:rPr>
              <a:t>real-time market data, sentiment analysis, and LLM-based reasoning</a:t>
            </a:r>
            <a:r>
              <a:rPr lang="en-US" dirty="0">
                <a:latin typeface="Times New Roman" panose="02020603050405020304" pitchFamily="18" charset="0"/>
                <a:cs typeface="Times New Roman" panose="02020603050405020304" pitchFamily="18" charset="0"/>
              </a:rPr>
              <a:t> to generate meaningful investment insights such as buy/sell signals, SIP recommendations, and IPO evaluations. </a:t>
            </a:r>
          </a:p>
          <a:p>
            <a:r>
              <a:rPr lang="en-US" dirty="0">
                <a:latin typeface="Times New Roman" panose="02020603050405020304" pitchFamily="18" charset="0"/>
                <a:cs typeface="Times New Roman" panose="02020603050405020304" pitchFamily="18" charset="0"/>
              </a:rPr>
              <a:t>The inclusion of a </a:t>
            </a:r>
            <a:r>
              <a:rPr lang="en-US" b="1" dirty="0">
                <a:latin typeface="Times New Roman" panose="02020603050405020304" pitchFamily="18" charset="0"/>
                <a:cs typeface="Times New Roman" panose="02020603050405020304" pitchFamily="18" charset="0"/>
              </a:rPr>
              <a:t>RAG framework ensures more reliable and context-aware responses</a:t>
            </a:r>
            <a:r>
              <a:rPr lang="en-US" dirty="0">
                <a:latin typeface="Times New Roman" panose="02020603050405020304" pitchFamily="18" charset="0"/>
                <a:cs typeface="Times New Roman" panose="02020603050405020304" pitchFamily="18" charset="0"/>
              </a:rPr>
              <a:t>, addressing limitations of traditional AI models. </a:t>
            </a:r>
          </a:p>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paper trading module</a:t>
            </a:r>
            <a:r>
              <a:rPr lang="en-US" dirty="0">
                <a:latin typeface="Times New Roman" panose="02020603050405020304" pitchFamily="18" charset="0"/>
                <a:cs typeface="Times New Roman" panose="02020603050405020304" pitchFamily="18" charset="0"/>
              </a:rPr>
              <a:t> enables users to test strategies without financial risk, improving practical understanding of market behavior. </a:t>
            </a:r>
          </a:p>
          <a:p>
            <a:r>
              <a:rPr lang="en-US" dirty="0">
                <a:latin typeface="Times New Roman" panose="02020603050405020304" pitchFamily="18" charset="0"/>
                <a:cs typeface="Times New Roman" panose="02020603050405020304" pitchFamily="18" charset="0"/>
              </a:rPr>
              <a:t>Overall, the project aims to </a:t>
            </a:r>
            <a:r>
              <a:rPr lang="en-US" b="1" dirty="0">
                <a:latin typeface="Times New Roman" panose="02020603050405020304" pitchFamily="18" charset="0"/>
                <a:cs typeface="Times New Roman" panose="02020603050405020304" pitchFamily="18" charset="0"/>
              </a:rPr>
              <a:t>bridge the gap between complex financial data and user-friendly decision support</a:t>
            </a:r>
            <a:r>
              <a:rPr lang="en-US" dirty="0">
                <a:latin typeface="Times New Roman" panose="02020603050405020304" pitchFamily="18" charset="0"/>
                <a:cs typeface="Times New Roman" panose="02020603050405020304" pitchFamily="18" charset="0"/>
              </a:rPr>
              <a:t>, making investment analysis more accessible. </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4610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F05B4-F8FD-4291-E8AB-EA92AFD551D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0A4BEB6A-05DB-1AB9-4B2A-915291DBA2D6}"/>
              </a:ext>
            </a:extLst>
          </p:cNvPr>
          <p:cNvSpPr>
            <a:spLocks noGrp="1"/>
          </p:cNvSpPr>
          <p:nvPr>
            <p:ph idx="1"/>
          </p:nvPr>
        </p:nvSpPr>
        <p:spPr>
          <a:xfrm>
            <a:off x="838200" y="1422502"/>
            <a:ext cx="10676466" cy="4988458"/>
          </a:xfrm>
        </p:spPr>
        <p:txBody>
          <a:bodyPr>
            <a:normAutofit/>
          </a:bodyPr>
          <a:lstStyle/>
          <a:p>
            <a:pPr algn="just"/>
            <a:r>
              <a:rPr lang="en-IN" dirty="0">
                <a:latin typeface="Times New Roman" panose="02020603050405020304" pitchFamily="18" charset="0"/>
                <a:cs typeface="Times New Roman" panose="02020603050405020304" pitchFamily="18" charset="0"/>
              </a:rPr>
              <a:t>[1] M. </a:t>
            </a:r>
            <a:r>
              <a:rPr lang="en-IN" dirty="0" err="1">
                <a:latin typeface="Times New Roman" panose="02020603050405020304" pitchFamily="18" charset="0"/>
                <a:cs typeface="Times New Roman" panose="02020603050405020304" pitchFamily="18" charset="0"/>
              </a:rPr>
              <a:t>Luckianto</a:t>
            </a:r>
            <a:r>
              <a:rPr lang="en-IN" dirty="0">
                <a:latin typeface="Times New Roman" panose="02020603050405020304" pitchFamily="18" charset="0"/>
                <a:cs typeface="Times New Roman" panose="02020603050405020304" pitchFamily="18" charset="0"/>
              </a:rPr>
              <a:t> and A. A. S. Gunawan, "MARAG-Fin: An Intelligent Multi agent RAG-LLM Architecture Integrating Financial News Sentiment and Time Series Data for Data-driven Trading Decision-making," Int. J. Intell. Eng. Syst., vol. 19, no. 1, pp. 738-748, 2026.</a:t>
            </a:r>
          </a:p>
          <a:p>
            <a:pPr algn="just"/>
            <a:r>
              <a:rPr lang="en-IN" dirty="0">
                <a:latin typeface="Times New Roman" panose="02020603050405020304" pitchFamily="18" charset="0"/>
                <a:cs typeface="Times New Roman" panose="02020603050405020304" pitchFamily="18" charset="0"/>
              </a:rPr>
              <a:t> [2] S. Das, S. Ghosh, A. Tiwari, R. E. Z. M. </a:t>
            </a:r>
            <a:r>
              <a:rPr lang="en-IN" dirty="0" err="1">
                <a:latin typeface="Times New Roman" panose="02020603050405020304" pitchFamily="18" charset="0"/>
                <a:cs typeface="Times New Roman" panose="02020603050405020304" pitchFamily="18" charset="0"/>
              </a:rPr>
              <a:t>Lynghoi</a:t>
            </a:r>
            <a:r>
              <a:rPr lang="en-IN" dirty="0">
                <a:latin typeface="Times New Roman" panose="02020603050405020304" pitchFamily="18" charset="0"/>
                <a:cs typeface="Times New Roman" panose="02020603050405020304" pitchFamily="18" charset="0"/>
              </a:rPr>
              <a:t>, S. Saha, Z. Murad, and A. Maurya, "Presenting an Order-Aware Multimodal Fusion Framework for Financial Advisory Summarization With an Exclusive Video Dataset," IEEE Access, vol. 13, pp. 48364-48381, 2025</a:t>
            </a:r>
          </a:p>
          <a:p>
            <a:pPr algn="just"/>
            <a:r>
              <a:rPr lang="en-IN" dirty="0">
                <a:latin typeface="Times New Roman" panose="02020603050405020304" pitchFamily="18" charset="0"/>
                <a:cs typeface="Times New Roman" panose="02020603050405020304" pitchFamily="18" charset="0"/>
              </a:rPr>
              <a:t> [3] K. </a:t>
            </a:r>
            <a:r>
              <a:rPr lang="en-IN" dirty="0" err="1">
                <a:latin typeface="Times New Roman" panose="02020603050405020304" pitchFamily="18" charset="0"/>
                <a:cs typeface="Times New Roman" panose="02020603050405020304" pitchFamily="18" charset="0"/>
              </a:rPr>
              <a:t>Liagkouras</a:t>
            </a:r>
            <a:r>
              <a:rPr lang="en-IN" dirty="0">
                <a:latin typeface="Times New Roman" panose="02020603050405020304" pitchFamily="18" charset="0"/>
                <a:cs typeface="Times New Roman" panose="02020603050405020304" pitchFamily="18" charset="0"/>
              </a:rPr>
              <a:t> and K. </a:t>
            </a:r>
            <a:r>
              <a:rPr lang="en-IN" dirty="0" err="1">
                <a:latin typeface="Times New Roman" panose="02020603050405020304" pitchFamily="18" charset="0"/>
                <a:cs typeface="Times New Roman" panose="02020603050405020304" pitchFamily="18" charset="0"/>
              </a:rPr>
              <a:t>Metaxiotis</a:t>
            </a:r>
            <a:r>
              <a:rPr lang="en-IN" dirty="0">
                <a:latin typeface="Times New Roman" panose="02020603050405020304" pitchFamily="18" charset="0"/>
                <a:cs typeface="Times New Roman" panose="02020603050405020304" pitchFamily="18" charset="0"/>
              </a:rPr>
              <a:t>, "A Hybrid Long Short-Term Memory with a Sentiment Analysis System for Stock Market Forecasting," Electronics, vol. 14, no. 2753, pp. 1-18, 2025</a:t>
            </a:r>
          </a:p>
          <a:p>
            <a:pPr algn="just"/>
            <a:r>
              <a:rPr lang="en-IN" dirty="0">
                <a:latin typeface="Times New Roman" panose="02020603050405020304" pitchFamily="18" charset="0"/>
                <a:cs typeface="Times New Roman" panose="02020603050405020304" pitchFamily="18" charset="0"/>
              </a:rPr>
              <a:t> [4] A. Jadhav and V. Mirza, "Large Language Models in equity markets: applications, techniques, and insights," Front. </a:t>
            </a:r>
            <a:r>
              <a:rPr lang="en-IN" dirty="0" err="1">
                <a:latin typeface="Times New Roman" panose="02020603050405020304" pitchFamily="18" charset="0"/>
                <a:cs typeface="Times New Roman" panose="02020603050405020304" pitchFamily="18" charset="0"/>
              </a:rPr>
              <a:t>Artif</a:t>
            </a:r>
            <a:r>
              <a:rPr lang="en-IN" dirty="0">
                <a:latin typeface="Times New Roman" panose="02020603050405020304" pitchFamily="18" charset="0"/>
                <a:cs typeface="Times New Roman" panose="02020603050405020304" pitchFamily="18" charset="0"/>
              </a:rPr>
              <a:t>. Intell., vol. 8, no. 1608365, pp. 1-15, Aug. 2025 </a:t>
            </a:r>
          </a:p>
          <a:p>
            <a:pPr algn="just"/>
            <a:r>
              <a:rPr lang="en-IN" dirty="0">
                <a:latin typeface="Times New Roman" panose="02020603050405020304" pitchFamily="18" charset="0"/>
                <a:cs typeface="Times New Roman" panose="02020603050405020304" pitchFamily="18" charset="0"/>
              </a:rPr>
              <a:t>[5] N. Srivatsan, "Using Large Language Models to Predict Stock Price: A Hybrid Model Combining Social Media Sentiment and Market Data," Natl. High Sch. J. Sci., pp. 1-12, Aug. 2025. </a:t>
            </a: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721981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161</TotalTime>
  <Words>1573</Words>
  <Application>Microsoft Office PowerPoint</Application>
  <PresentationFormat>Widescreen</PresentationFormat>
  <Paragraphs>171</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Times New Roman</vt:lpstr>
      <vt:lpstr>Trebuchet MS</vt:lpstr>
      <vt:lpstr>Wingdings 3</vt:lpstr>
      <vt:lpstr>Facet</vt:lpstr>
      <vt:lpstr>PowerPoint Presentation</vt:lpstr>
      <vt:lpstr>Abstract </vt:lpstr>
      <vt:lpstr>INTRODUCTION  </vt:lpstr>
      <vt:lpstr>PROBLEM STATEMENT </vt:lpstr>
      <vt:lpstr>OBJECTIVES  </vt:lpstr>
      <vt:lpstr>LITERATURE SURVEY</vt:lpstr>
      <vt:lpstr>System Design and Architecture </vt:lpstr>
      <vt:lpstr>INITIAL FINDINGS</vt:lpstr>
      <vt:lpstr>Technical Implementation</vt:lpstr>
      <vt:lpstr>Overall Progress</vt:lpstr>
      <vt:lpstr>Snapshots</vt:lpstr>
      <vt:lpstr>Snapshots</vt:lpstr>
      <vt:lpstr>Snapshots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INDUSHREE N</dc:creator>
  <cp:lastModifiedBy>amaansidiqui014@outlook.com</cp:lastModifiedBy>
  <cp:revision>38</cp:revision>
  <dcterms:created xsi:type="dcterms:W3CDTF">2025-09-29T07:19:36Z</dcterms:created>
  <dcterms:modified xsi:type="dcterms:W3CDTF">2026-05-07T15:14:01Z</dcterms:modified>
</cp:coreProperties>
</file>